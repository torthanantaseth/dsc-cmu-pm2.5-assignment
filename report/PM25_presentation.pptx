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สวัสดีครับ ผมธนา ธนันต์เศรษฐ์ รหัส 690631061 นี่คือการบ้านครั้งที่ 4 วิชา Data Science Programming
หัวข้อ PM2.5 ในภาคเหนือ จากข้อมูลดิบสู่ข้อเสนอเชิงนโยบาย
สิบนาทีนี้จะเล่าสี่เรื่อง คำถามที่ตั้งไว้ โค้ดทำงานยังไง ข้อมูลกลายเป็นอะไร และข้อเสนอสามข้อ
ขอบอกไว้ก่อนเลยว่า โมเดลของผมไม่ได้ชนะ baseline แบบขาดลอย
และนั่นกลับเป็นผลที่มีประโยชน์ที่สุดในงานนี้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[0:20-0:45]
ก่อนเข้าเนื้อหา ขอวางภาพใหญ่ก่อนหนึ่งหน้า
ฤดูฝุ่นภาคเหนือทำอะไรได้สามอย่าง หนึ่ง Predict รู้ล่วงหน้าว่าพรุ่งนี้จะแย่
สอง Prevent เปิดห้องปลอดฝุ่นทัน และวัดผลนโยบายเผาให้ถูกต้อง
สาม Recovery ชดเชยครัวเรือนที่เสียรายได้ไปแล้ว
สิ่งที่ผมสร้างจากข้อมูลตัวเองคือกล่องแรก ส่วนอีกสองกล่องผมอ้างงานวิจัยกับระเบียบที่มีอยู่แล้ว
ผมแยกไว้ในตารางเลยว่าข้อไหนยืนบนอะไร จะได้ไม่เคลมเกินกว่าที่ข้อมูลรองรับ
และทั้งสามกล่องรออยู่บนเรื่องเดียวกัน คือจะเข้าถึงข้อมูลเครื่องวัดจริงได้หรือไม่
ซึ่งเป็นข้อเสนอข้อแรกของผม และเป็นเรื่องที่ผมจะเล่าให้ฟังว่าทำไม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[0:45-1:20]
คนเชียงใหม่รู้อยู่แล้วว่าเดือนมีนาอากาศแย่ นั่นไม่ใช่การวิเคราะห์
ผมเลยเลือกคำถามที่ถ้าตอบได้แล้วเปลี่ยนอะไรได้จริง
เหตุผลข้อแรก เกณฑ์มันมีอยู่แล้ว และเป็นเชิงตั้งรับ ค่าเฉลี่ยรายวันเกิน 37.5
กฎหมายบังคับให้แจกหน้ากากและเปิดห้องปลอดฝุ่นอยู่แล้ว แต่สั่งการจากค่าที่วัดไปแล้ว
พยากรณ์จึงมีค่าเท่ากับเวลาล่วงหน้าหนึ่งวัน ของสิ่งที่สั่งไว้แล้วและมีงบแล้ว แคบ ชัด ทดสอบได้
ข้อสอง ปี 2569 เชียงใหม่ห้ามเผายาวที่สุดเท่าที่เคยมี แต่เป็นปีที่ไฟหนักที่สุด
ถ้าความพยายามกับตัวเลขที่ใช้วัดผลไปคนละทาง ตัวเลขนั้นก็ควรถูกตรวจสอบ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[1:20-2:05]
ใบงานกำหนดว่าคลิปต้องครอบคลุมว่าโค้ดทำงานยังไง ผมขอเล่าตรงนี้ก่อนผลลัพธ์
repository เป็นไปตาม layout ที่กำหนด config.py เก็บ path URL และค่าคงที่ไว้ที่เดียว
ไม่มี hard-code กระจายที่อื่น fetch_data เซฟ raw response ทุกไฟล์ก่อนที่อะไรจะไป parse
prepare_data ทำความสะอาด join สร้าง feature checks.py คือ checkpoint ทั้งหกข้อ
analyse.py วาดกราฟ model.py ทำ baseline กับโมเดล
ผมเพิ่ม run_all.py ให้รันทั้งหมดตามลำดับ แต่ละขั้นครอบด้วย try except
ถ้าเน็ตพังจุดเดียว ที่เหลือยังรันต่อ แล้วสรุปท้ายบอกว่าขั้นไหนพัง
ผลคือได้ raw 49 ไฟล์ และข้อมูลรายชั่วโมง 128,352 แถว จากทั้งสามแหล่ง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[2:05-2:45]
สี่จุดในไปป์ไลน์ที่โค้ดจะรันผ่านสวยงาม แต่ให้คำตอบผิด และไม่มี error เตือนเลย
หนึ่ง วันที่มีข้อมูลแค่หกชั่วโมง กับวันที่มีครบยี่สิบสี่ชั่วโมง ถ้าเอามาเฉลี่ยเหมือนกัน
ค่าเฉลี่ยสองตัวนั้นไม่ใช่ของชนิดเดียวกัน ผมเลยตั้งกฎว่าวันไหนไม่ครบสิบแปดชั่วโมง ตัดทิ้ง ไม่เฉลี่ย
สอง ทิศลม ลองนึกว่าวัดได้สองชั่วโมง ชั่วโมงแรก 350 องศา ชั่วโมงสอง 10 องศา
ทั้งสองครั้งลมมาจากทิศเหนือแทบจะเป๊ะ แต่ถ้าเอามาบวกหารสอง จะได้ 180 องศา ซึ่งคือทิศใต้
ตรงข้ามกับความจริงพอดี เพราะองศาเป็นวงกลม ไม่ใช่เส้นตรง ผมเลยแปลงเป็นเวกเตอร์ก่อนแล้วค่อยเฉลี่ย
สาม Air4Thai เขียนค่าที่หายไปเป็นข้อความว่า ลบหนึ่ง ไม่ใช่ค่าว่าง
สมมติวันหนึ่งวัดได้ห้าค่า สี่สิบสอง สามสิบแปด ลบหนึ่ง สี่สิบห้า ลบหนึ่ง
ถ้าไม่กรอง เฉลี่ยได้ยี่สิบสี่จุดหก แต่ความจริงคือสี่สิบเอ็ดจุดเจ็ด
ยี่สิบสี่จุดหกดูเป็นตัวเลขปกติมาก และมันจะทำให้วันนั้นถูกนับว่าไม่เกินมาตรฐาน ทั้งที่เกิน
สี่ เรื่อง data leakage ผมใส่ guard ที่หยุดโปรแกรมทันที
ถ้ามีคอลัมน์ที่รู้ไม่ได้ ณ เวลาทำนายหลุดเข้าโมเดล เขียนเป็น allow-list
คือคอลัมน์สภาพอากาศต้องลงท้ายด้วย lag หรือ roll เท่านั้น อย่างอื่นไม่ผ่าน
ขอพูดตรงๆ ว่า guard นี้ไม่เคยทำงานเลยในรอบสุดท้าย และยังไม่ครอบคลุมคอลัมน์ fc_
ซึ่งเป็นค่าพยากรณ์ที่อาจไม่มีจริง ณ เวลานั้น ผมเขียนไว้ในตารางข้อจำกัดของรายงานแล้ว
วิธีแก้คือใช้ Previous Runs API ของ Open-Meteo ซึ่งผมไม่ได้ทำในรอบนี้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[2:45-3:20]
มาที่ผลลัพธ์ เริ่มจาก checkpoint เพราะมันเปลี่ยนสิ่งที่ส่วนที่เหลือเคลมได้
C3 สั่งให้รายงานเปอร์เซ็นต์ข้อมูลที่หายไปของทุกคอลัมน์
ของผมมีสามสิบแปดคอลัมน์ที่หายไปศูนย์จุดศูนย์ศูนย์ศูนย์ศูนย์เปอร์เซ็นต์พอดี ตลอดสามปีครึ่ง
ตรงนี้แหละที่ผมไม่หยุด เพราะข้อมูลที่สมบูรณ์เกินไปคือสัญญาณเตือน ไม่ใช่ข่าวดี
เครื่องวัดจริงมันหยุดส่งข้อมูลเสมอ ตอนสอบเทียบ ตอนไฟดับ ตอนสัญญาณขาด ตอนซ่อมบำรุง
Air4Thai ซึ่งเป็นเครื่องวัดจริง ก็เข้ารหัสช่องว่างพวกนั้นไว้เป็นลบหนึ่ง
ถ้าเครื่องวัดจริงยังมีรู แล้วข้อมูลที่ไม่มีรูเลยมาจากไหน
คำตอบคือมันไม่ใช่เครื่องวัด แหล่งจริงคือ Copernicus CAMS
ซึ่งเป็นแบบจำลองบรรยากาศระดับโลก ที่ผลิตตัวเลขให้ทุกกริดทุกชั่วโมง
ไม่ว่าตรงนั้นจะเคยมีใครไปวัดหรือไม่ แบบจำลองไม่มีวันไฟดับ
สามอย่างที่ตามมา หนึ่ง ความคลาดเคลื่อนเป็นอคติเชิงระบบ ไม่ใช่ noise เก็บข้อมูลเพิ่มไม่ช่วย
สอง โมเดลที่เทรนด้วยข้อมูลนี้ เก่งเรื่องทำนาย CAMS ไม่ใช่ทำนายอากาศจริง
สาม ทุกตัวเลขวันเกินมาตรฐานในงานนี้ คือตัวเลขของ CAMS
ซึ่งบังคับให้คำถามถัดไปคือ แล้ว CAMS ผิดไปเท่าไหร่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[3:20-4:00]
C6 ให้เทียบกับ Air4Thai ซึ่งเป็นเครื่องวัดจริง
Air4Thai ไม่มี endpoint ย้อนหลัง ยิงได้แค่ค่าปัจจุบัน ผมเลยรันหลายวันแล้วเก็บสะสม ได้เจ็ดสิบคู่
ผลคือ CAMS อ่านต่ำกว่าเครื่องวัดเฉลี่ยห้าจุดสามแปด และต่ำทั้งสิบสี่จากสิบสี่สถานี
ไม่ใช่ส่วนใหญ่ แต่ทั้งหมด การไปทางเดียวกันหมดแบบนี้คืออคติเชิงระบบ ไม่ใช่ความบังเอิญ
ที่สำคัญคือทิศทางของมันสวนทางกับตัวเลขของผมเอง
สมมติวันหนึ่ง CAMS รายงานสามสิบห้าจุดสอง ผมนับเป็นวันปกติเพราะไม่ถึงสามสิบเจ็ดจุดห้า
แต่ถ้าบวกกลับห้าจุดสามแปด ค่าจริงน่าจะราวสี่สิบจุดหก ซึ่งเกินมาตรฐาน
แปลว่าจำนวนวันเกินมาตรฐานทุกตัวในรายงานผม น่าจะนับขาด ไม่ใช่นับเกิน
ข้อจำกัดสองข้อที่ผมขอพูดเอง
ข้อแรก เจ็ดสิบคู่นั้นเก็บในหน้าฝนทั้งหมด ค่าอยู่แค่หกจุดเก้าถึงสิบแปดจุดสี่
ผมวัด bias ในอากาศสะอาด แล้วเอาไปพูดถึงเส้นสามสิบเจ็ดจุดห้าซึ่งอยู่นอกช่วงที่วัด
มันอาจจะเท่าเดิม อาจจะมากกว่า ผมพิสูจน์ไม่ได้
ข้อสอง bias ไม่เท่ากันทุกที่ ที่ยุพราชวิทยาลัยในเมืองเชียงใหม่ต่ำแค่ศูนย์จุดเจ็ด
แต่ที่แม่เมาะลำปางต่ำถึงเก้าจุดหนึ่ง เพราะแม่เมาะมีโรงไฟฟ้าถ่านหิน
ซึ่งเป็นแหล่งกำเนิดเฉพาะจุดที่กริดสี่สิบห้ากิโลเมตรมองไม่เห็น
แปลว่าการจัดอันดับระหว่างจังหวัดในงานผม อาจปนความผิดพลาดของแบบจำลองที่ไม่เท่ากันอยู่</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[4:00-4:50]  สไลด์สำคัญ อย่ารีบ
นี่คือ C4 สิ่งที่ผมภูมิใจที่สุด เพราะเกือบพลาดไป
C4 บอกว่าถ้าจะเทียบสองพื้นที่ ต้องพิสูจน์ก่อนว่ามันคืนข้อมูลต่างกันจริง
เวอร์ชันแรกของผมเทียบพิกัดที่ API คืนกลับมา หกจุด หกพิกัดต่างกัน มันผ่าน
แล้วผมมาดูตัวเลขจริง เมืองกับหางดง ห่างกันสิบสองกิโลเมตร
คืนค่า PM2.5 เหมือนกันทุกตัวเลข ตลอดหนึ่งร้อยหกสิบแปดชั่วโมง ผลต่างสูงสุดเป็นศูนย์
ทั้งที่ API รายงานพิกัดคนละค่าให้สองจุดนั้น
เหตุผลคือ Open-Meteo รายงานบนกริดศูนย์จุดหนึ่งองศา แต่ CAMS ละเอียดแค่ศูนย์จุดสี่องศา
ราวสี่สิบห้ากิโลเมตร สองคำขอจึงมาจากกริดหยาบเดียวกันได้ แล้วยังรายงานพิกัดต่างกัน
มีแต่การเทียบค่าเท่านั้นที่จับได้
ผมเลยเขียน check ใหม่ให้เทียบชุดข้อมูลจริง ตัดการวิเคราะห์ระดับอำเภอทิ้ง
แล้วจำกัดการเทียบเชิงพื้นที่ไว้ที่สี่จังหวัดที่ตรวจแล้วว่าต่างกันจริง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[4:50-5:25]
ทีนี้มาที่โมเดล คำถามแรกคือ ต้องมีโมเดลไหม
เพราะมีวิธีเดาที่ง่ายที่สุดอยู่แล้ว คือทายว่าพรุ่งนี้เท่ากับวันนี้ ไม่ต้องเทรน ไม่ต้องใช้อะไรเลย
และมันแข็งแรงมาก เพราะค่าวันนี้กับค่าเมื่อวานสัมพันธ์กันที่ศูนย์จุดแปดเก้าสี่
ยกกำลังสองได้ศูนย์จุดแปด แปลว่าเมื่อวานอย่างเดียวอธิบายวันนี้ได้แปดสิบเปอร์เซ็นต์
เหลือช่องให้โมเดลแค่ยี่สิบเปอร์เซ็นต์ นั่นคือแผงซ้าย
แต่พอผมถามต่อว่า มันพลาดเท่ากันทุกวันจริงหรือ คำตอบคือไม่
ผมเลยแบ่งวันเป็นสองกอง กองแรกคือวันที่เมื่อวานกับวันนี้อยู่ฝั่งเดียวกันของเส้นสามสิบเจ็ดจุดห้า
กองที่สองคือวันที่ข้ามเส้น
กองแรกมีเก้าสิบสี่จุดห้าเปอร์เซ็นต์ พลาดแค่สามจุดห้าเก้า
กองที่สองมีห้าจุดห้าเปอร์เซ็นต์ พลาดถึงสิบจุดหกศูนย์ แย่กว่าเกือบสามเท่า
ค่าเฉลี่ยรวมออกมาสามจุดเก้าแปด เพราะวันเงียบครองสัดส่วนเกือบทั้งหมด มันกลบส่วนที่สำคัญที่สุดไว้
และความต่างนี้ไม่ใช่แค่ตัวเลข พลาดสามจุดห้าเก้าคือทายสี่สิบสี่แล้วจริงสี่สิบเจ็ด คำตอบยังเกินมาตรฐานเหมือนเดิม
แต่พลาดสิบจุดหกคือทายสามสิบเอ็ดแล้วจริงห้าสิบสอง คำตอบพลิกจากปลอดภัยเป็นอันตราย
อันแรกทำให้ตัวเลขเพี้ยน อันหลังทำให้การตัดสินใจเพี้ยน
และวันที่ข้ามเส้นพวกนั้น คือวันเดียวที่ระบบเตือนภัยมีอยู่เพื่อสิ่งนั้น ผมจึงวัดโมเดลตรงนั้น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[5:25-6:10]
การเปรียบเทียบ บนชุดทดสอบสี่ร้อยห้าสิบสี่วันที่โมเดลไม่เคยเห็น แบ่งด้วยเวลาไม่ใช่สุ่ม
และในโค้ด baseline ถูกให้คะแนนก่อนบรรทัดที่เทรนโมเดล เพื่อไม่ให้ผมมีโอกาสเลือก baseline ที่ทำให้ตัวเองชนะ
คอลัมน์แรก gradient boosting ได้สามจุดเก้าห้า เทียบกับ baseline สี่จุดหนึ่งสอง ชนะสี่เปอร์เซ็นต์
ฟังดูดี แต่ผมไม่เอามาเคลม เพราะชนะได้แค่ศูนย์จุดหนึ่งเจ็ด
ในขณะที่ผมวัด bias ของข้อมูลตัวเองไว้ที่ห้าจุดสามแปด ชัยชนะเล็กกว่าความผิดพลาดของข้อมูลสามสิบเท่า
มันอยู่ในระดับ noise
คอลัมน์สุดท้าย วันที่อากาศเปลี่ยน baseline พลาดสิบสี่จุดหนึ่ง ridge พลาดสิบเอ็ดจุดแปด
ลดลงสิบหกเปอร์เซ็นต์ ชนะสองจุดสองเก้า ซึ่งอยู่ในระดับเดียวกับ bias แล้ว พอมีน้ำหนัก
และที่สำคัญคือทั้งสองโมเดลชนะในคอลัมน์นี้ ไม่ใช่ตัวเดียว
ถ้าตัวเดียวอาจเป็นความบังเอิญ แต่สองวิธีที่ทำงานคนละแบบชนะเหมือนกัน แปลว่ามีอะไรจริงอยู่
สังเกตด้วยว่า ridge แพ้ baseline ในคอลัมน์แรก แต่ชนะขาดที่สุดในคอลัมน์สุดท้าย
ถ้าดูแค่ค่าเฉลี่ยรวม ridge คือตัวที่ควรทิ้ง แต่พอดูเกณฑ์ที่ตรงกับการใช้งานจริง มันคือตัวที่ดีที่สุด
สรุปคือ persistence ไม่มีใครชนะได้บนวันเงียบๆ ที่ครองค่าเฉลี่ยอยู่
โมเดลผมพิสูจน์ตัวเองได้เฉพาะบนวันที่ข้ามเกณฑ์ นั่นแคบกว่าคำว่าโมเดลผมดีกว่า
และเป็นสิ่งที่หลักฐานรองรับ
และนี่คือจุดที่เปลี่ยนทิศทางของงาน ถ้าโมเดลมีค่าเฉพาะวันที่อากาศเปลี่ยน
สิ่งที่ควรเผยแพร่ก็ไม่ใช่ตัวเลขของพรุ่งนี้ เพราะตัวเลขนั้นเดาเองก็เกือบได้แล้ว
สิ่งที่ควรเผยแพร่คือคำเตือนว่าพรุ่งนี้กำลังจะเปลี่ยน
ซึ่งเป็นคนละคำถาม และเป็นคำถามที่สไลด์ถัดไปตอบ รวมถึงเป็นสิ่งที่ข้อเสนอข้อแรกขอให้จังหวัดทำ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[6:10-6:55]
กรอบที่สองคือ classification พรุ่งนี้จะเกิน 37.5 ไหม
วันที่เกินมีราวสิบเปอร์เซ็นต์ accuracy จึงใช้ไม่ได้ ทายว่าปลอดภัยทุกวันก็ได้เก้าสิบแล้ว
โมเดลไม่ได้ตอบใช่หรือไม่ใช่ มันตอบเป็นความน่าจะเป็น แล้วต้องมีคนตัดสินว่ามั่นใจเท่าไหร่ถึงจะเตือน
ค่า default คือศูนย์จุดห้า ผมไม่ใช้ ผมตั้งเป้าเชิงนโยบายก่อนว่าต้องจับวันอันตรายให้ได้เก้าสิบเปอร์เซ็นต์
แล้วเลือกเส้นที่สูงที่สุดที่ยังผ่านเกณฑ์นั้น ได้ศูนย์จุดสามสี่สี่
ความผิดพลาดสองแบบไม่สมมาตร เตือนผิดหนึ่งครั้งเสียแค่เปิดห้องหนึ่งวันกับแจกหน้ากาก
ย้อนกลับได้ และอยู่ในงบแล้ว แต่การพลาดหนึ่งวันคือคนกลุ่มเปราะบางหนึ่งจุดหกล้านคนไม่ได้รับการป้องกัน
โมเดลพลาดสี่วัน เตือนผิดยี่สิบหกครั้งใน 454 วัน baseline พลาดแปด เตือนผิดแปด
ลดการพลาดลงครึ่งหนึ่ง แลกกับเตือนผิดราวสามเท่า
และผมจงใจไม่ไล่ล่าให้พลาดเป็นศูนย์ เพราะจับให้ครบต้องยอมเตือนผิดเก้าสิบเก้าครั้ง
คือเตือนทุกสี่วันครึ่ง ซึ่งสอนให้คนเลิกฟัง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[6:55-7:40]  สไลด์สำคัญ
ผลที่ผมไม่ได้คาดไว้ และข้อเสนอของผมยืนอยู่บนมัน
ผมเพิ่มจุดความร้อนจากดาวเทียม NASA เข้าไป คาดว่าจะอธิบายได้ทั้งรายวันและรายปี
รายวันอธิบายได้จริง แผงซ้าย ความสัมพันธ์ศูนย์จุดหกเก้า แรงกว่าตัวแปรสภาพอากาศทุกตัวที่ทดสอบ
แต่รายปีความสัมพันธ์หายไป ดูตาราง ปี 2567 มีจุดไฟมากที่สุด สองหมื่นหนึ่งพันจุด
แต่มีวันเกินมาตรฐานน้อยที่สุด แค่สิบเอ็ดวัน
ปี 2568 มีไฟไม่ถึงครึ่ง แต่มีวันแย่มากกว่าเกือบสามเท่า
สองอย่างนี้ไม่ขัดกัน รายวันถามว่าควันมาจากไหน รายปีถามว่ามีกี่วันที่สะสมจนข้ามเส้น
ซึ่งขึ้นกับจังหวะ ไม่ใช่ปริมาณรวม
สรุปคือ จำนวนวันเกินมาตรฐานรายปี ไม่ได้วัดว่าปีนั้นเผามากแค่ไหนเป็นหลัก
ผมบอกไม่ได้ว่ามันวัดอะไร ตัวเลือกที่ชัดที่สุดคือการระบายอากาศ แต่ข้อมูลของผมเองไม่รองรับ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[7:40-8:50]
ข้อเสนอสี่ข้อ ผมจัดเป็นสี่ช่องเหมือนกันทุกข้อ คือ ใครทำ ทำอะไร คาดว่าจะได้อะไร และติดอะไร
เป็นรูปแบบเดียวกับที่ผมใช้เขียน roadmap ในงานประจำ ผมไม่เสนออะไรที่ไม่มีเจ้าของ
และไม่เสนออะไรโดยไม่บอกข้อจำกัดของมันไปพร้อมกัน
ขอเริ่มที่ข้อแรก เพราะมันคือข้อที่หลักฐานในงานนี้รองรับหนักที่สุด
สามในหกเช็คพอยต์ชี้ไปที่เรื่องเดียวกันหมด C3 บอกว่าข้อมูลเป็นแบบจำลอง
C4 บอกว่ากริดหยาบเกินจะแยกอำเภอ C6 บอกว่ามันต่ำไปห้าจุดสามแปดทุกสถานี
ข้อมูลเครื่องวัดจริงระดับอำเภอย้อนหลังห้าปีมีอยู่แล้วที่เครือข่าย DustBoy ของ มช.
แต่ต้องขออนุมัติ ซึ่งยังไม่มีใครขอ
อุปสรรคของระบบเตือนภัยฝุ่นในเชียงใหม่จึงไม่ใช่เรื่องวิธีการ แต่เป็นเรื่องสิทธิ์เข้าถึงข้อมูล
และข้อเสนออีกสามข้อรออยู่บนข้อนี้
ข้อแรก เสนอต่อศูนย์อนามัยที่ 1 เชียงใหม่ ซึ่งดูแลห้องปลอดฝุ่นสองพันสองร้อยเจ็ดสิบห้าห้อง
ให้เผยแพร่ความน่าจะเป็นที่พรุ่งนี้จะเกินมาตรฐาน ควบคู่กับค่าปัจจุบันที่เผยแพร่อยู่แล้ว
แล้วเผยแพร่อัตราการพลาดด้วย ระบบที่ปิดบังความผิดพลาดของตัวเอง
คือระบบที่ขอความไว้วางใจที่ยังไม่ได้พิสูจน์
ข้อสอง เสนอต่อคณะทำงาน PM2.5 จังหวัด ให้รายงานตัวเลขการเผาคู่กับตัวเลขวันเกินมาตรฐาน
เพราะจังหวัดที่ถูกวัดด้วยวันเกินมาตรฐานอย่างเดียว กำลังถูกวัดด้วยดินฟ้าอากาศเป็นส่วนใหญ่
ทั้งในทางบวกและทางลบ
ข้อสาม เสนอต่อ ปภ. บัญชีเงินเยียวยาภัยพิบัติมีหมวดบ้านพัง มีหมวดเครื่องมือทำกินเสียหาย
แต่ไม่มีหมวดสำหรับครัวเรือนที่ทำงานไม่ได้หกสัปดาห์ และเกณฑ์ปัจจุบันคือรอให้เกิน 125 ครบห้าวันก่อน
คือจ่ายหลังจากเกิดหายนะแล้ว ไม่ใช่จ่ายตามการรับสัมผัส
เงื่อนไขที่ใช้กับทั้งสามข้อ ระบบที่ผมสาธิตทำนายค่าของแบบจำลอง ไม่ใช่ของอากาศจริง
ต้องเทรนใหม่ด้วยข้อมูลสถานีตรวจวัดก่อนเปิดใช้จริง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[8:50-9:15]
ขอพูดสั้นๆ ถึงสิ่งที่การวิเคราะห์นี้ไม่รองรับ ผมอยากพูดเองมากกว่าโดนถาม
ตัวเลขทั้งหมดเป็นของแบบจำลอง สี่ปีไม่ใช่แนวโน้ม สี่ฤดูเผาไม่พอจะ validate การพยากรณ์ฤดูกาล
กริดหยาบเกินกว่าจะเทียบเมืองกับชนบท จำนวนไฟใกล้พื้นที่หนึ่งไม่ได้พิสูจน์ว่าไฟนั้นทำให้เกิดฝุ่นตรงนั้น
และผมบอกไม่ได้ว่ามาตรการห้ามเผาได้ผลหรือไม่
สิ่งเดียวที่แก้ได้มากที่สุดคือ ข้อมูลสถานีตรวจวัดจริงย้อนหลังห้าปี จากเครือข่าย DustBoy ของ มช.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[9:15-9:40]
สี่อย่างที่อยากให้จำ
ข้อมูลกลายเป็นแบบจำลอง ผมเลยไปวัดว่ามันผิดไปเท่าไหร่
สองจุดที่ห่างกันสิบสองกิโลเมตรเป็นข้อมูลชุดเดียวกัน
โมเดลของผมแพ้โดยเฉลี่ยแต่ชนะในวันที่สำคัญ
และตัวเลขที่ใช้ตัดสินผลงานจังหวัด สะท้อนดินฟ้าอากาศมากกว่าการเผา
ลิงก์ repository อยู่บนจอครับ github ทับ torthanantaseth ทับ dsc-cmu-pm2.5-assignment ขอบคุณครับ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A2018"/>
        </a:solidFill>
      </p:bgPr>
    </p:bg>
    <p:spTree>
      <p:nvGrpSpPr>
        <p:cNvPr id="1" name=""/>
        <p:cNvGrpSpPr/>
        <p:nvPr/>
      </p:nvGrpSpPr>
      <p:grpSpPr>
        <a:xfrm>
          <a:off x="0" y="0"/>
          <a:ext cx="0" cy="0"/>
          <a:chOff x="0" y="0"/>
          <a:chExt cx="0" cy="0"/>
        </a:xfrm>
      </p:grpSpPr>
      <p:sp>
        <p:nvSpPr>
          <p:cNvPr id="2" name="Text 0"/>
          <p:cNvSpPr txBox="1"/>
          <p:nvPr/>
        </p:nvSpPr>
        <p:spPr>
          <a:xfrm>
            <a:off x="502920" y="1371600"/>
            <a:ext cx="8138160" cy="274320"/>
          </a:xfrm>
          <a:prstGeom prst="rect">
            <a:avLst/>
          </a:prstGeom>
          <a:noFill/>
          <a:ln/>
        </p:spPr>
        <p:txBody>
          <a:bodyPr wrap="square" lIns="0" tIns="0" rIns="0" bIns="0" rtlCol="0" anchor="ctr"/>
          <a:lstStyle/>
          <a:p>
            <a:pPr indent="0" marL="0">
              <a:buNone/>
            </a:pPr>
            <a:r>
              <a:rPr lang="en-US" sz="1150" b="1" spc="180" kern="0" dirty="0">
                <a:solidFill>
                  <a:srgbClr val="E9A56B"/>
                </a:solidFill>
                <a:latin typeface="Sarabun" pitchFamily="34" charset="0"/>
                <a:ea typeface="Sarabun" pitchFamily="34" charset="-122"/>
                <a:cs typeface="Sarabun" pitchFamily="34" charset="-120"/>
              </a:rPr>
              <a:t>DS-270702  ·  DATA SCIENCE PROGRAMMING  ·  HOMEWORK 4</a:t>
            </a:r>
            <a:endParaRPr lang="en-US" sz="1150" dirty="0"/>
          </a:p>
        </p:txBody>
      </p:sp>
      <p:sp>
        <p:nvSpPr>
          <p:cNvPr id="3" name="Text 1"/>
          <p:cNvSpPr txBox="1"/>
          <p:nvPr/>
        </p:nvSpPr>
        <p:spPr>
          <a:xfrm>
            <a:off x="502920" y="1783080"/>
            <a:ext cx="8138160" cy="713232"/>
          </a:xfrm>
          <a:prstGeom prst="rect">
            <a:avLst/>
          </a:prstGeom>
          <a:noFill/>
          <a:ln/>
        </p:spPr>
        <p:txBody>
          <a:bodyPr wrap="square" lIns="0" tIns="0" rIns="0" bIns="0" rtlCol="0" anchor="ctr"/>
          <a:lstStyle/>
          <a:p>
            <a:pPr indent="0" marL="0">
              <a:buNone/>
            </a:pPr>
            <a:r>
              <a:rPr lang="en-US" sz="4200" b="1" dirty="0">
                <a:solidFill>
                  <a:srgbClr val="FFFDFA"/>
                </a:solidFill>
                <a:latin typeface="Sarabun" pitchFamily="34" charset="0"/>
                <a:ea typeface="Sarabun" pitchFamily="34" charset="-122"/>
                <a:cs typeface="Sarabun" pitchFamily="34" charset="-120"/>
              </a:rPr>
              <a:t>PM2.5 in Northern Thailand</a:t>
            </a:r>
            <a:endParaRPr lang="en-US" sz="4200" dirty="0"/>
          </a:p>
        </p:txBody>
      </p:sp>
      <p:sp>
        <p:nvSpPr>
          <p:cNvPr id="4" name="Text 2"/>
          <p:cNvSpPr txBox="1"/>
          <p:nvPr/>
        </p:nvSpPr>
        <p:spPr>
          <a:xfrm>
            <a:off x="502920" y="2514600"/>
            <a:ext cx="8138160" cy="411480"/>
          </a:xfrm>
          <a:prstGeom prst="rect">
            <a:avLst/>
          </a:prstGeom>
          <a:noFill/>
          <a:ln/>
        </p:spPr>
        <p:txBody>
          <a:bodyPr wrap="square" lIns="0" tIns="0" rIns="0" bIns="0" rtlCol="0" anchor="ctr"/>
          <a:lstStyle/>
          <a:p>
            <a:pPr indent="0" marL="0">
              <a:buNone/>
            </a:pPr>
            <a:r>
              <a:rPr lang="en-US" sz="2200" i="1" dirty="0">
                <a:solidFill>
                  <a:srgbClr val="F0E5D6"/>
                </a:solidFill>
                <a:latin typeface="Sarabun" pitchFamily="34" charset="0"/>
                <a:ea typeface="Sarabun" pitchFamily="34" charset="-122"/>
                <a:cs typeface="Sarabun" pitchFamily="34" charset="-120"/>
              </a:rPr>
              <a:t>From raw data to a recommendation</a:t>
            </a:r>
            <a:endParaRPr lang="en-US" sz="2200" dirty="0"/>
          </a:p>
        </p:txBody>
      </p:sp>
      <p:sp>
        <p:nvSpPr>
          <p:cNvPr id="5" name="Text 3"/>
          <p:cNvSpPr txBox="1"/>
          <p:nvPr/>
        </p:nvSpPr>
        <p:spPr>
          <a:xfrm>
            <a:off x="502920" y="3310128"/>
            <a:ext cx="8138160" cy="274320"/>
          </a:xfrm>
          <a:prstGeom prst="rect">
            <a:avLst/>
          </a:prstGeom>
          <a:noFill/>
          <a:ln/>
        </p:spPr>
        <p:txBody>
          <a:bodyPr wrap="square" lIns="0" tIns="0" rIns="0" bIns="0" rtlCol="0" anchor="ctr"/>
          <a:lstStyle/>
          <a:p>
            <a:pPr indent="0" marL="0">
              <a:buNone/>
            </a:pPr>
            <a:r>
              <a:rPr lang="en-US" sz="1250" dirty="0">
                <a:solidFill>
                  <a:srgbClr val="9C8A76"/>
                </a:solidFill>
                <a:latin typeface="Sarabun" pitchFamily="34" charset="0"/>
                <a:ea typeface="Sarabun" pitchFamily="34" charset="-122"/>
                <a:cs typeface="Sarabun" pitchFamily="34" charset="-120"/>
              </a:rPr>
              <a:t>Thana Thanantaseth   ·   690631061   ·   Master of Science in Data Science, Chiang Mai University</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A"/>
        </a:solidFill>
      </p:bgPr>
    </p:bg>
    <p:spTree>
      <p:nvGrpSpPr>
        <p:cNvPr id="1" name=""/>
        <p:cNvGrpSpPr/>
        <p:nvPr/>
      </p:nvGrpSpPr>
      <p:grpSpPr>
        <a:xfrm>
          <a:off x="0" y="0"/>
          <a:ext cx="0" cy="0"/>
          <a:chOff x="0" y="0"/>
          <a:chExt cx="0" cy="0"/>
        </a:xfrm>
      </p:grpSpPr>
      <p:sp>
        <p:nvSpPr>
          <p:cNvPr id="2" name="Text 0"/>
          <p:cNvSpPr txBox="1"/>
          <p:nvPr/>
        </p:nvSpPr>
        <p:spPr>
          <a:xfrm>
            <a:off x="502920" y="274320"/>
            <a:ext cx="8138160" cy="201168"/>
          </a:xfrm>
          <a:prstGeom prst="rect">
            <a:avLst/>
          </a:prstGeom>
          <a:noFill/>
          <a:ln/>
        </p:spPr>
        <p:txBody>
          <a:bodyPr wrap="square" lIns="0" tIns="0" rIns="0" bIns="0" rtlCol="0" anchor="ctr"/>
          <a:lstStyle/>
          <a:p>
            <a:pPr indent="0" marL="0">
              <a:buNone/>
            </a:pPr>
            <a:r>
              <a:rPr lang="en-US" sz="1050" b="1" spc="160" kern="0" dirty="0">
                <a:solidFill>
                  <a:srgbClr val="BF5722"/>
                </a:solidFill>
                <a:latin typeface="Sarabun" pitchFamily="34" charset="0"/>
                <a:ea typeface="Sarabun" pitchFamily="34" charset="-122"/>
                <a:cs typeface="Sarabun" pitchFamily="34" charset="-120"/>
              </a:rPr>
              <a:t>THE SHAPE OF THE PROBLEM</a:t>
            </a:r>
            <a:endParaRPr lang="en-US" sz="1050" dirty="0"/>
          </a:p>
        </p:txBody>
      </p:sp>
      <p:sp>
        <p:nvSpPr>
          <p:cNvPr id="3" name="Text 1"/>
          <p:cNvSpPr txBox="1"/>
          <p:nvPr/>
        </p:nvSpPr>
        <p:spPr>
          <a:xfrm>
            <a:off x="502920" y="493776"/>
            <a:ext cx="8138160" cy="512064"/>
          </a:xfrm>
          <a:prstGeom prst="rect">
            <a:avLst/>
          </a:prstGeom>
          <a:noFill/>
          <a:ln/>
        </p:spPr>
        <p:txBody>
          <a:bodyPr wrap="square" lIns="0" tIns="0" rIns="0" bIns="0" rtlCol="0" anchor="t"/>
          <a:lstStyle/>
          <a:p>
            <a:pPr indent="0" marL="0">
              <a:buNone/>
            </a:pPr>
            <a:r>
              <a:rPr lang="en-US" sz="2500" b="1" dirty="0">
                <a:solidFill>
                  <a:srgbClr val="2C231C"/>
                </a:solidFill>
                <a:latin typeface="Sarabun" pitchFamily="34" charset="0"/>
                <a:ea typeface="Sarabun" pitchFamily="34" charset="-122"/>
                <a:cs typeface="Sarabun" pitchFamily="34" charset="-120"/>
              </a:rPr>
              <a:t>Three things can be done about the season</a:t>
            </a:r>
            <a:endParaRPr lang="en-US" sz="2500" dirty="0"/>
          </a:p>
        </p:txBody>
      </p:sp>
      <p:sp>
        <p:nvSpPr>
          <p:cNvPr id="4" name="Text 2"/>
          <p:cNvSpPr txBox="1"/>
          <p:nvPr/>
        </p:nvSpPr>
        <p:spPr>
          <a:xfrm>
            <a:off x="502920" y="1060704"/>
            <a:ext cx="8138160" cy="310896"/>
          </a:xfrm>
          <a:prstGeom prst="rect">
            <a:avLst/>
          </a:prstGeom>
          <a:noFill/>
          <a:ln/>
        </p:spPr>
        <p:txBody>
          <a:bodyPr wrap="square" lIns="0" tIns="0" rIns="0" bIns="0" rtlCol="0" anchor="t"/>
          <a:lstStyle/>
          <a:p>
            <a:pPr indent="0" marL="0">
              <a:buNone/>
            </a:pPr>
            <a:r>
              <a:rPr lang="en-US" sz="1350" b="1" dirty="0">
                <a:solidFill>
                  <a:srgbClr val="2C231C"/>
                </a:solidFill>
                <a:latin typeface="Sarabun" pitchFamily="34" charset="0"/>
                <a:ea typeface="Sarabun" pitchFamily="34" charset="-122"/>
                <a:cs typeface="Sarabun" pitchFamily="34" charset="-120"/>
              </a:rPr>
              <a:t>This deck builds the first box out of its own data. The other two rest on published research and on regulation that already exists, and the table says which is which.</a:t>
            </a:r>
            <a:endParaRPr lang="en-US" sz="1350" dirty="0"/>
          </a:p>
        </p:txBody>
      </p:sp>
      <p:sp>
        <p:nvSpPr>
          <p:cNvPr id="5" name="Shape 3"/>
          <p:cNvSpPr/>
          <p:nvPr/>
        </p:nvSpPr>
        <p:spPr>
          <a:xfrm>
            <a:off x="502920" y="1572768"/>
            <a:ext cx="1938528" cy="475488"/>
          </a:xfrm>
          <a:prstGeom prst="chevron">
            <a:avLst/>
          </a:prstGeom>
          <a:solidFill>
            <a:srgbClr val="2A2018"/>
          </a:solidFill>
          <a:ln w="12700">
            <a:solidFill>
              <a:srgbClr val="2A2018"/>
            </a:solidFill>
            <a:prstDash val="solid"/>
          </a:ln>
        </p:spPr>
      </p:sp>
      <p:sp>
        <p:nvSpPr>
          <p:cNvPr id="6" name="Text 4"/>
          <p:cNvSpPr txBox="1"/>
          <p:nvPr/>
        </p:nvSpPr>
        <p:spPr>
          <a:xfrm>
            <a:off x="594360" y="1572768"/>
            <a:ext cx="1847088" cy="475488"/>
          </a:xfrm>
          <a:prstGeom prst="rect">
            <a:avLst/>
          </a:prstGeom>
          <a:noFill/>
          <a:ln/>
        </p:spPr>
        <p:txBody>
          <a:bodyPr wrap="square" lIns="0" tIns="0" rIns="0" bIns="0" rtlCol="0" anchor="ctr"/>
          <a:lstStyle/>
          <a:p>
            <a:pPr algn="ctr" indent="0" marL="0">
              <a:buNone/>
            </a:pPr>
            <a:r>
              <a:rPr lang="en-US" sz="1100" b="1" dirty="0">
                <a:solidFill>
                  <a:srgbClr val="FFFDFA"/>
                </a:solidFill>
                <a:latin typeface="Sarabun" pitchFamily="34" charset="0"/>
                <a:ea typeface="Sarabun" pitchFamily="34" charset="-122"/>
                <a:cs typeface="Sarabun" pitchFamily="34" charset="-120"/>
              </a:rPr>
              <a:t>PM2.5 season</a:t>
            </a:r>
            <a:endParaRPr lang="en-US" sz="1100" dirty="0"/>
          </a:p>
        </p:txBody>
      </p:sp>
      <p:sp>
        <p:nvSpPr>
          <p:cNvPr id="7" name="Shape 5"/>
          <p:cNvSpPr/>
          <p:nvPr/>
        </p:nvSpPr>
        <p:spPr>
          <a:xfrm>
            <a:off x="2569464" y="1572768"/>
            <a:ext cx="1938528" cy="475488"/>
          </a:xfrm>
          <a:prstGeom prst="chevron">
            <a:avLst/>
          </a:prstGeom>
          <a:solidFill>
            <a:srgbClr val="BF5722"/>
          </a:solidFill>
          <a:ln w="12700">
            <a:solidFill>
              <a:srgbClr val="BF5722"/>
            </a:solidFill>
            <a:prstDash val="solid"/>
          </a:ln>
        </p:spPr>
      </p:sp>
      <p:sp>
        <p:nvSpPr>
          <p:cNvPr id="8" name="Text 6"/>
          <p:cNvSpPr txBox="1"/>
          <p:nvPr/>
        </p:nvSpPr>
        <p:spPr>
          <a:xfrm>
            <a:off x="2660904" y="1572768"/>
            <a:ext cx="1847088" cy="475488"/>
          </a:xfrm>
          <a:prstGeom prst="rect">
            <a:avLst/>
          </a:prstGeom>
          <a:noFill/>
          <a:ln/>
        </p:spPr>
        <p:txBody>
          <a:bodyPr wrap="square" lIns="0" tIns="0" rIns="0" bIns="0" rtlCol="0" anchor="ctr"/>
          <a:lstStyle/>
          <a:p>
            <a:pPr algn="ctr" indent="0" marL="0">
              <a:buNone/>
            </a:pPr>
            <a:r>
              <a:rPr lang="en-US" sz="1200" b="1" spc="120" kern="0" dirty="0">
                <a:solidFill>
                  <a:srgbClr val="FFFDFA"/>
                </a:solidFill>
                <a:latin typeface="Sarabun" pitchFamily="34" charset="0"/>
                <a:ea typeface="Sarabun" pitchFamily="34" charset="-122"/>
                <a:cs typeface="Sarabun" pitchFamily="34" charset="-120"/>
              </a:rPr>
              <a:t>PREDICT</a:t>
            </a:r>
            <a:endParaRPr lang="en-US" sz="1200" dirty="0"/>
          </a:p>
        </p:txBody>
      </p:sp>
      <p:sp>
        <p:nvSpPr>
          <p:cNvPr id="9" name="Shape 7"/>
          <p:cNvSpPr/>
          <p:nvPr/>
        </p:nvSpPr>
        <p:spPr>
          <a:xfrm>
            <a:off x="4636008" y="1572768"/>
            <a:ext cx="1938528" cy="475488"/>
          </a:xfrm>
          <a:prstGeom prst="chevron">
            <a:avLst/>
          </a:prstGeom>
          <a:solidFill>
            <a:srgbClr val="F5EDE1"/>
          </a:solidFill>
          <a:ln w="12700">
            <a:solidFill>
              <a:srgbClr val="E3D8C8"/>
            </a:solidFill>
            <a:prstDash val="solid"/>
          </a:ln>
        </p:spPr>
      </p:sp>
      <p:sp>
        <p:nvSpPr>
          <p:cNvPr id="10" name="Text 8"/>
          <p:cNvSpPr txBox="1"/>
          <p:nvPr/>
        </p:nvSpPr>
        <p:spPr>
          <a:xfrm>
            <a:off x="4727448" y="1572768"/>
            <a:ext cx="1847088" cy="475488"/>
          </a:xfrm>
          <a:prstGeom prst="rect">
            <a:avLst/>
          </a:prstGeom>
          <a:noFill/>
          <a:ln/>
        </p:spPr>
        <p:txBody>
          <a:bodyPr wrap="square" lIns="0" tIns="0" rIns="0" bIns="0" rtlCol="0" anchor="ctr"/>
          <a:lstStyle/>
          <a:p>
            <a:pPr algn="ctr" indent="0" marL="0">
              <a:buNone/>
            </a:pPr>
            <a:r>
              <a:rPr lang="en-US" sz="1200" b="1" spc="120" kern="0" dirty="0">
                <a:solidFill>
                  <a:srgbClr val="2C231C"/>
                </a:solidFill>
                <a:latin typeface="Sarabun" pitchFamily="34" charset="0"/>
                <a:ea typeface="Sarabun" pitchFamily="34" charset="-122"/>
                <a:cs typeface="Sarabun" pitchFamily="34" charset="-120"/>
              </a:rPr>
              <a:t>PREVENT</a:t>
            </a:r>
            <a:endParaRPr lang="en-US" sz="1200" dirty="0"/>
          </a:p>
        </p:txBody>
      </p:sp>
      <p:sp>
        <p:nvSpPr>
          <p:cNvPr id="11" name="Shape 9"/>
          <p:cNvSpPr/>
          <p:nvPr/>
        </p:nvSpPr>
        <p:spPr>
          <a:xfrm>
            <a:off x="6702552" y="1572768"/>
            <a:ext cx="1938528" cy="475488"/>
          </a:xfrm>
          <a:prstGeom prst="chevron">
            <a:avLst/>
          </a:prstGeom>
          <a:solidFill>
            <a:srgbClr val="F5EDE1"/>
          </a:solidFill>
          <a:ln w="12700">
            <a:solidFill>
              <a:srgbClr val="E3D8C8"/>
            </a:solidFill>
            <a:prstDash val="solid"/>
          </a:ln>
        </p:spPr>
      </p:sp>
      <p:sp>
        <p:nvSpPr>
          <p:cNvPr id="12" name="Text 10"/>
          <p:cNvSpPr txBox="1"/>
          <p:nvPr/>
        </p:nvSpPr>
        <p:spPr>
          <a:xfrm>
            <a:off x="6793992" y="1572768"/>
            <a:ext cx="1847088" cy="475488"/>
          </a:xfrm>
          <a:prstGeom prst="rect">
            <a:avLst/>
          </a:prstGeom>
          <a:noFill/>
          <a:ln/>
        </p:spPr>
        <p:txBody>
          <a:bodyPr wrap="square" lIns="0" tIns="0" rIns="0" bIns="0" rtlCol="0" anchor="ctr"/>
          <a:lstStyle/>
          <a:p>
            <a:pPr algn="ctr" indent="0" marL="0">
              <a:buNone/>
            </a:pPr>
            <a:r>
              <a:rPr lang="en-US" sz="1200" b="1" spc="120" kern="0" dirty="0">
                <a:solidFill>
                  <a:srgbClr val="2C231C"/>
                </a:solidFill>
                <a:latin typeface="Sarabun" pitchFamily="34" charset="0"/>
                <a:ea typeface="Sarabun" pitchFamily="34" charset="-122"/>
                <a:cs typeface="Sarabun" pitchFamily="34" charset="-120"/>
              </a:rPr>
              <a:t>RECOVERY</a:t>
            </a:r>
            <a:endParaRPr lang="en-US" sz="1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02920" y="2286000"/>
          <a:ext cx="8138160" cy="914400"/>
        </p:xfrm>
        <a:graphic>
          <a:graphicData uri="http://schemas.openxmlformats.org/drawingml/2006/table">
            <a:tbl>
              <a:tblPr/>
              <a:tblGrid>
                <a:gridCol w="1005840"/>
                <a:gridCol w="2651760"/>
                <a:gridCol w="2194560"/>
                <a:gridCol w="2286000"/>
              </a:tblGrid>
              <a:tr h="274320">
                <a:tc>
                  <a:txBody>
                    <a:bodyPr/>
                    <a:lstStyle/>
                    <a:p>
                      <a:pPr algn="l" indent="0" marL="0">
                        <a:buNone/>
                      </a:pPr>
                      <a:r>
                        <a:rPr lang="en-US" sz="1050" b="1" dirty="0">
                          <a:solidFill>
                            <a:srgbClr val="7C6B5B"/>
                          </a:solidFill>
                          <a:latin typeface="Sarabun" pitchFamily="34" charset="0"/>
                          <a:ea typeface="Sarabun" pitchFamily="34" charset="-122"/>
                          <a:cs typeface="Sarabun" pitchFamily="34" charset="-120"/>
                        </a:rPr>
                        <a:t>Stage</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5EDE1"/>
                    </a:solidFill>
                  </a:tcPr>
                </a:tc>
                <a:tc>
                  <a:txBody>
                    <a:bodyPr/>
                    <a:lstStyle/>
                    <a:p>
                      <a:pPr algn="l" indent="0" marL="0">
                        <a:buNone/>
                      </a:pPr>
                      <a:r>
                        <a:rPr lang="en-US" sz="1050" b="1" dirty="0">
                          <a:solidFill>
                            <a:srgbClr val="7C6B5B"/>
                          </a:solidFill>
                          <a:latin typeface="Sarabun" pitchFamily="34" charset="0"/>
                          <a:ea typeface="Sarabun" pitchFamily="34" charset="-122"/>
                          <a:cs typeface="Sarabun" pitchFamily="34" charset="-120"/>
                        </a:rPr>
                        <a:t>What it means</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5EDE1"/>
                    </a:solidFill>
                  </a:tcPr>
                </a:tc>
                <a:tc>
                  <a:txBody>
                    <a:bodyPr/>
                    <a:lstStyle/>
                    <a:p>
                      <a:pPr algn="l" indent="0" marL="0">
                        <a:buNone/>
                      </a:pPr>
                      <a:r>
                        <a:rPr lang="en-US" sz="1050" b="1" dirty="0">
                          <a:solidFill>
                            <a:srgbClr val="7C6B5B"/>
                          </a:solidFill>
                          <a:latin typeface="Sarabun" pitchFamily="34" charset="0"/>
                          <a:ea typeface="Sarabun" pitchFamily="34" charset="-122"/>
                          <a:cs typeface="Sarabun" pitchFamily="34" charset="-120"/>
                        </a:rPr>
                        <a:t>Where it is in this deck</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5EDE1"/>
                    </a:solidFill>
                  </a:tcPr>
                </a:tc>
                <a:tc>
                  <a:txBody>
                    <a:bodyPr/>
                    <a:lstStyle/>
                    <a:p>
                      <a:pPr algn="l" indent="0" marL="0">
                        <a:buNone/>
                      </a:pPr>
                      <a:r>
                        <a:rPr lang="en-US" sz="1050" b="1" dirty="0">
                          <a:solidFill>
                            <a:srgbClr val="7C6B5B"/>
                          </a:solidFill>
                          <a:latin typeface="Sarabun" pitchFamily="34" charset="0"/>
                          <a:ea typeface="Sarabun" pitchFamily="34" charset="-122"/>
                          <a:cs typeface="Sarabun" pitchFamily="34" charset="-120"/>
                        </a:rPr>
                        <a:t>What the claim rests on</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5EDE1"/>
                    </a:solidFill>
                  </a:tcPr>
                </a:tc>
              </a:tr>
              <a:tr h="566928">
                <a:tc>
                  <a:txBody>
                    <a:bodyPr/>
                    <a:lstStyle/>
                    <a:p>
                      <a:pPr algn="l" indent="0" marL="0">
                        <a:buNone/>
                      </a:pPr>
                      <a:r>
                        <a:rPr lang="en-US" sz="1050" b="1" dirty="0">
                          <a:solidFill>
                            <a:srgbClr val="2C231C"/>
                          </a:solidFill>
                          <a:latin typeface="Sarabun" pitchFamily="34" charset="0"/>
                          <a:ea typeface="Sarabun" pitchFamily="34" charset="-122"/>
                          <a:cs typeface="Sarabun" pitchFamily="34" charset="-120"/>
                        </a:rPr>
                        <a:t>Predict</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050" dirty="0">
                          <a:solidFill>
                            <a:srgbClr val="2C231C"/>
                          </a:solidFill>
                          <a:latin typeface="Sarabun" pitchFamily="34" charset="0"/>
                          <a:ea typeface="Sarabun" pitchFamily="34" charset="-122"/>
                          <a:cs typeface="Sarabun" pitchFamily="34" charset="-120"/>
                        </a:rPr>
                        <a:t>Know tomorrow before tomorrow</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050" dirty="0">
                          <a:solidFill>
                            <a:srgbClr val="2C231C"/>
                          </a:solidFill>
                          <a:latin typeface="Sarabun" pitchFamily="34" charset="0"/>
                          <a:ea typeface="Sarabun" pitchFamily="34" charset="-122"/>
                          <a:cs typeface="Sarabun" pitchFamily="34" charset="-120"/>
                        </a:rPr>
                        <a:t>The model, and the first two recommendations</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050" dirty="0">
                          <a:solidFill>
                            <a:srgbClr val="2C231C"/>
                          </a:solidFill>
                          <a:latin typeface="Sarabun" pitchFamily="34" charset="0"/>
                          <a:ea typeface="Sarabun" pitchFamily="34" charset="-122"/>
                          <a:cs typeface="Sarabun" pitchFamily="34" charset="-120"/>
                        </a:rPr>
                        <a:t>My own test set, 454 days</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r h="566928">
                <a:tc>
                  <a:txBody>
                    <a:bodyPr/>
                    <a:lstStyle/>
                    <a:p>
                      <a:pPr algn="l" indent="0" marL="0">
                        <a:buNone/>
                      </a:pPr>
                      <a:r>
                        <a:rPr lang="en-US" sz="1050" b="1" dirty="0">
                          <a:solidFill>
                            <a:srgbClr val="2C231C"/>
                          </a:solidFill>
                          <a:latin typeface="Sarabun" pitchFamily="34" charset="0"/>
                          <a:ea typeface="Sarabun" pitchFamily="34" charset="-122"/>
                          <a:cs typeface="Sarabun" pitchFamily="34" charset="-120"/>
                        </a:rPr>
                        <a:t>Prevent</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050" dirty="0">
                          <a:solidFill>
                            <a:srgbClr val="2C231C"/>
                          </a:solidFill>
                          <a:latin typeface="Sarabun" pitchFamily="34" charset="0"/>
                          <a:ea typeface="Sarabun" pitchFamily="34" charset="-122"/>
                          <a:cs typeface="Sarabun" pitchFamily="34" charset="-120"/>
                        </a:rPr>
                        <a:t>Open rooms and stop bad burning being scored as good</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050" dirty="0">
                          <a:solidFill>
                            <a:srgbClr val="2C231C"/>
                          </a:solidFill>
                          <a:latin typeface="Sarabun" pitchFamily="34" charset="0"/>
                          <a:ea typeface="Sarabun" pitchFamily="34" charset="-122"/>
                          <a:cs typeface="Sarabun" pitchFamily="34" charset="-120"/>
                        </a:rPr>
                        <a:t>The second and third recommendations</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050" dirty="0">
                          <a:solidFill>
                            <a:srgbClr val="2C231C"/>
                          </a:solidFill>
                          <a:latin typeface="Sarabun" pitchFamily="34" charset="0"/>
                          <a:ea typeface="Sarabun" pitchFamily="34" charset="-122"/>
                          <a:cs typeface="Sarabun" pitchFamily="34" charset="-120"/>
                        </a:rPr>
                        <a:t>My own data, plus the standard already in force</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r h="566928">
                <a:tc>
                  <a:txBody>
                    <a:bodyPr/>
                    <a:lstStyle/>
                    <a:p>
                      <a:pPr algn="l" indent="0" marL="0">
                        <a:buNone/>
                      </a:pPr>
                      <a:r>
                        <a:rPr lang="en-US" sz="1050" b="1" dirty="0">
                          <a:solidFill>
                            <a:srgbClr val="2C231C"/>
                          </a:solidFill>
                          <a:latin typeface="Sarabun" pitchFamily="34" charset="0"/>
                          <a:ea typeface="Sarabun" pitchFamily="34" charset="-122"/>
                          <a:cs typeface="Sarabun" pitchFamily="34" charset="-120"/>
                        </a:rPr>
                        <a:t>Recovery</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050" dirty="0">
                          <a:solidFill>
                            <a:srgbClr val="2C231C"/>
                          </a:solidFill>
                          <a:latin typeface="Sarabun" pitchFamily="34" charset="0"/>
                          <a:ea typeface="Sarabun" pitchFamily="34" charset="-122"/>
                          <a:cs typeface="Sarabun" pitchFamily="34" charset="-120"/>
                        </a:rPr>
                        <a:t>Pay households the season already cost</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050" dirty="0">
                          <a:solidFill>
                            <a:srgbClr val="2C231C"/>
                          </a:solidFill>
                          <a:latin typeface="Sarabun" pitchFamily="34" charset="0"/>
                          <a:ea typeface="Sarabun" pitchFamily="34" charset="-122"/>
                          <a:cs typeface="Sarabun" pitchFamily="34" charset="-120"/>
                        </a:rPr>
                        <a:t>The fourth recommendation</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050" dirty="0">
                          <a:solidFill>
                            <a:srgbClr val="2C231C"/>
                          </a:solidFill>
                          <a:latin typeface="Sarabun" pitchFamily="34" charset="0"/>
                          <a:ea typeface="Sarabun" pitchFamily="34" charset="-122"/>
                          <a:cs typeface="Sarabun" pitchFamily="34" charset="-120"/>
                        </a:rPr>
                        <a:t>Published research and the national relief schedule</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bl>
          </a:graphicData>
        </a:graphic>
      </p:graphicFrame>
      <p:sp>
        <p:nvSpPr>
          <p:cNvPr id="14" name="Shape 11"/>
          <p:cNvSpPr/>
          <p:nvPr/>
        </p:nvSpPr>
        <p:spPr>
          <a:xfrm>
            <a:off x="502920" y="4297680"/>
            <a:ext cx="8138160" cy="640080"/>
          </a:xfrm>
          <a:prstGeom prst="roundRect">
            <a:avLst>
              <a:gd name="adj" fmla="val 11429"/>
            </a:avLst>
          </a:prstGeom>
          <a:solidFill>
            <a:srgbClr val="2A2018"/>
          </a:solidFill>
          <a:ln w="12700">
            <a:solidFill>
              <a:srgbClr val="2A2018"/>
            </a:solidFill>
            <a:prstDash val="solid"/>
          </a:ln>
        </p:spPr>
      </p:sp>
      <p:sp>
        <p:nvSpPr>
          <p:cNvPr id="15" name="Text 12"/>
          <p:cNvSpPr txBox="1"/>
          <p:nvPr/>
        </p:nvSpPr>
        <p:spPr>
          <a:xfrm>
            <a:off x="758952" y="4425696"/>
            <a:ext cx="7626096" cy="347472"/>
          </a:xfrm>
          <a:prstGeom prst="rect">
            <a:avLst/>
          </a:prstGeom>
          <a:noFill/>
          <a:ln/>
        </p:spPr>
        <p:txBody>
          <a:bodyPr wrap="square" lIns="0" tIns="0" rIns="0" bIns="0" rtlCol="0" anchor="ctr"/>
          <a:lstStyle/>
          <a:p>
            <a:pPr indent="0" marL="0">
              <a:buNone/>
            </a:pPr>
            <a:r>
              <a:rPr lang="en-US" sz="1500" b="1" dirty="0">
                <a:solidFill>
                  <a:srgbClr val="FFFDFA"/>
                </a:solidFill>
                <a:latin typeface="Sarabun" pitchFamily="34" charset="0"/>
                <a:ea typeface="Sarabun" pitchFamily="34" charset="-122"/>
                <a:cs typeface="Sarabun" pitchFamily="34" charset="-120"/>
              </a:rPr>
              <a:t>All three wait on one thing: whether measured station data can be obtained. That is recommendation 1.</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A"/>
        </a:solidFill>
      </p:bgPr>
    </p:bg>
    <p:spTree>
      <p:nvGrpSpPr>
        <p:cNvPr id="1" name=""/>
        <p:cNvGrpSpPr/>
        <p:nvPr/>
      </p:nvGrpSpPr>
      <p:grpSpPr>
        <a:xfrm>
          <a:off x="0" y="0"/>
          <a:ext cx="0" cy="0"/>
          <a:chOff x="0" y="0"/>
          <a:chExt cx="0" cy="0"/>
        </a:xfrm>
      </p:grpSpPr>
      <p:sp>
        <p:nvSpPr>
          <p:cNvPr id="2" name="Text 0"/>
          <p:cNvSpPr txBox="1"/>
          <p:nvPr/>
        </p:nvSpPr>
        <p:spPr>
          <a:xfrm>
            <a:off x="502920" y="274320"/>
            <a:ext cx="8138160" cy="201168"/>
          </a:xfrm>
          <a:prstGeom prst="rect">
            <a:avLst/>
          </a:prstGeom>
          <a:noFill/>
          <a:ln/>
        </p:spPr>
        <p:txBody>
          <a:bodyPr wrap="square" lIns="0" tIns="0" rIns="0" bIns="0" rtlCol="0" anchor="ctr"/>
          <a:lstStyle/>
          <a:p>
            <a:pPr indent="0" marL="0">
              <a:buNone/>
            </a:pPr>
            <a:r>
              <a:rPr lang="en-US" sz="1050" b="1" spc="160" kern="0" dirty="0">
                <a:solidFill>
                  <a:srgbClr val="BF5722"/>
                </a:solidFill>
                <a:latin typeface="Sarabun" pitchFamily="34" charset="0"/>
                <a:ea typeface="Sarabun" pitchFamily="34" charset="-122"/>
                <a:cs typeface="Sarabun" pitchFamily="34" charset="-120"/>
              </a:rPr>
              <a:t>THE QUESTION</a:t>
            </a:r>
            <a:endParaRPr lang="en-US" sz="1050" dirty="0"/>
          </a:p>
        </p:txBody>
      </p:sp>
      <p:sp>
        <p:nvSpPr>
          <p:cNvPr id="3" name="Text 1"/>
          <p:cNvSpPr txBox="1"/>
          <p:nvPr/>
        </p:nvSpPr>
        <p:spPr>
          <a:xfrm>
            <a:off x="502920" y="493776"/>
            <a:ext cx="8138160" cy="512064"/>
          </a:xfrm>
          <a:prstGeom prst="rect">
            <a:avLst/>
          </a:prstGeom>
          <a:noFill/>
          <a:ln/>
        </p:spPr>
        <p:txBody>
          <a:bodyPr wrap="square" lIns="0" tIns="0" rIns="0" bIns="0" rtlCol="0" anchor="t"/>
          <a:lstStyle/>
          <a:p>
            <a:pPr indent="0" marL="0">
              <a:buNone/>
            </a:pPr>
            <a:r>
              <a:rPr lang="en-US" sz="2500" b="1" dirty="0">
                <a:solidFill>
                  <a:srgbClr val="2C231C"/>
                </a:solidFill>
                <a:latin typeface="Sarabun" pitchFamily="34" charset="0"/>
                <a:ea typeface="Sarabun" pitchFamily="34" charset="-122"/>
                <a:cs typeface="Sarabun" pitchFamily="34" charset="-120"/>
              </a:rPr>
              <a:t>What I set out to answer</a:t>
            </a:r>
            <a:endParaRPr lang="en-US" sz="2500" dirty="0"/>
          </a:p>
        </p:txBody>
      </p:sp>
      <p:sp>
        <p:nvSpPr>
          <p:cNvPr id="4" name="Shape 2"/>
          <p:cNvSpPr/>
          <p:nvPr/>
        </p:nvSpPr>
        <p:spPr>
          <a:xfrm>
            <a:off x="502920" y="1078992"/>
            <a:ext cx="8138160" cy="914400"/>
          </a:xfrm>
          <a:prstGeom prst="roundRect">
            <a:avLst>
              <a:gd name="adj" fmla="val 8000"/>
            </a:avLst>
          </a:prstGeom>
          <a:solidFill>
            <a:srgbClr val="FBE8D8"/>
          </a:solidFill>
          <a:ln w="12700">
            <a:solidFill>
              <a:srgbClr val="FBE8D8"/>
            </a:solidFill>
            <a:prstDash val="solid"/>
          </a:ln>
        </p:spPr>
      </p:sp>
      <p:sp>
        <p:nvSpPr>
          <p:cNvPr id="5" name="Text 3"/>
          <p:cNvSpPr txBox="1"/>
          <p:nvPr/>
        </p:nvSpPr>
        <p:spPr>
          <a:xfrm>
            <a:off x="758952" y="1188720"/>
            <a:ext cx="7626096" cy="713232"/>
          </a:xfrm>
          <a:prstGeom prst="rect">
            <a:avLst/>
          </a:prstGeom>
          <a:noFill/>
          <a:ln/>
        </p:spPr>
        <p:txBody>
          <a:bodyPr wrap="square" lIns="0" tIns="0" rIns="0" bIns="0" rtlCol="0" anchor="ctr"/>
          <a:lstStyle/>
          <a:p>
            <a:pPr indent="0" marL="0">
              <a:buNone/>
            </a:pPr>
            <a:r>
              <a:rPr lang="en-US" sz="1600" b="1" dirty="0">
                <a:solidFill>
                  <a:srgbClr val="2C231C"/>
                </a:solidFill>
                <a:latin typeface="Sarabun" pitchFamily="34" charset="0"/>
                <a:ea typeface="Sarabun" pitchFamily="34" charset="-122"/>
                <a:cs typeface="Sarabun" pitchFamily="34" charset="-120"/>
              </a:rPr>
              <a:t>Can tomorrow's PM2.5 in Chiang Mai be predicted well enough to be worth warning people with, and if it can, what should change as a result?</a:t>
            </a:r>
            <a:endParaRPr lang="en-US" sz="1600" dirty="0"/>
          </a:p>
        </p:txBody>
      </p:sp>
      <p:sp>
        <p:nvSpPr>
          <p:cNvPr id="6" name="Text 4"/>
          <p:cNvSpPr txBox="1"/>
          <p:nvPr/>
        </p:nvSpPr>
        <p:spPr>
          <a:xfrm>
            <a:off x="502920" y="2194560"/>
            <a:ext cx="8138160" cy="310896"/>
          </a:xfrm>
          <a:prstGeom prst="rect">
            <a:avLst/>
          </a:prstGeom>
          <a:noFill/>
          <a:ln/>
        </p:spPr>
        <p:txBody>
          <a:bodyPr wrap="square" lIns="0" tIns="0" rIns="0" bIns="0" rtlCol="0" anchor="t"/>
          <a:lstStyle/>
          <a:p>
            <a:pPr indent="0" marL="0">
              <a:buNone/>
            </a:pPr>
            <a:r>
              <a:rPr lang="en-US" sz="1350" b="1" dirty="0">
                <a:solidFill>
                  <a:srgbClr val="2C231C"/>
                </a:solidFill>
                <a:latin typeface="Sarabun" pitchFamily="34" charset="0"/>
                <a:ea typeface="Sarabun" pitchFamily="34" charset="-122"/>
                <a:cs typeface="Sarabun" pitchFamily="34" charset="-120"/>
              </a:rPr>
              <a:t>Two reasons this question is worth a term project, and not just curiosity.</a:t>
            </a:r>
            <a:endParaRPr lang="en-US" sz="13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2596896"/>
          <a:ext cx="8138160" cy="914400"/>
        </p:xfrm>
        <a:graphic>
          <a:graphicData uri="http://schemas.openxmlformats.org/drawingml/2006/table">
            <a:tbl>
              <a:tblPr/>
              <a:tblGrid>
                <a:gridCol w="2834640"/>
                <a:gridCol w="5303520"/>
              </a:tblGrid>
              <a:tr h="548640">
                <a:tc>
                  <a:txBody>
                    <a:bodyPr/>
                    <a:lstStyle/>
                    <a:p>
                      <a:pPr algn="l" indent="0" marL="0">
                        <a:buNone/>
                      </a:pPr>
                      <a:r>
                        <a:rPr lang="en-US" sz="1150" b="1" dirty="0">
                          <a:solidFill>
                            <a:srgbClr val="7C6B5B"/>
                          </a:solidFill>
                          <a:latin typeface="Sarabun" pitchFamily="34" charset="0"/>
                          <a:ea typeface="Sarabun" pitchFamily="34" charset="-122"/>
                          <a:cs typeface="Sarabun" pitchFamily="34" charset="-120"/>
                        </a:rPr>
                        <a:t>Why ask it</a:t>
                      </a:r>
                      <a:endParaRPr lang="en-US" sz="11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5EDE1"/>
                    </a:solidFill>
                  </a:tcPr>
                </a:tc>
                <a:tc>
                  <a:txBody>
                    <a:bodyPr/>
                    <a:lstStyle/>
                    <a:p>
                      <a:pPr algn="l" indent="0" marL="0">
                        <a:buNone/>
                      </a:pPr>
                      <a:r>
                        <a:rPr lang="en-US" sz="1150" b="1" dirty="0">
                          <a:solidFill>
                            <a:srgbClr val="7C6B5B"/>
                          </a:solidFill>
                          <a:latin typeface="Sarabun" pitchFamily="34" charset="0"/>
                          <a:ea typeface="Sarabun" pitchFamily="34" charset="-122"/>
                          <a:cs typeface="Sarabun" pitchFamily="34" charset="-120"/>
                        </a:rPr>
                        <a:t>What is already true today</a:t>
                      </a:r>
                      <a:endParaRPr lang="en-US" sz="11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5EDE1"/>
                    </a:solidFill>
                  </a:tcPr>
                </a:tc>
              </a:tr>
              <a:tr h="548640">
                <a:tc>
                  <a:txBody>
                    <a:bodyPr/>
                    <a:lstStyle/>
                    <a:p>
                      <a:pPr algn="l" indent="0" marL="0">
                        <a:buNone/>
                      </a:pPr>
                      <a:r>
                        <a:rPr lang="en-US" sz="1150" b="1" dirty="0">
                          <a:solidFill>
                            <a:srgbClr val="2C231C"/>
                          </a:solidFill>
                          <a:latin typeface="Sarabun" pitchFamily="34" charset="0"/>
                          <a:ea typeface="Sarabun" pitchFamily="34" charset="-122"/>
                          <a:cs typeface="Sarabun" pitchFamily="34" charset="-120"/>
                        </a:rPr>
                        <a:t>The action is already funded and already mandated</a:t>
                      </a:r>
                      <a:endParaRPr lang="en-US" sz="11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150" dirty="0">
                          <a:solidFill>
                            <a:srgbClr val="2C231C"/>
                          </a:solidFill>
                          <a:latin typeface="Sarabun" pitchFamily="34" charset="0"/>
                          <a:ea typeface="Sarabun" pitchFamily="34" charset="-122"/>
                          <a:cs typeface="Sarabun" pitchFamily="34" charset="-120"/>
                        </a:rPr>
                        <a:t>37.5 µg/m³ obliges agencies to hand out masks and open dust-free rooms. A forecast is worth exactly one day of warning on a decision that has already been made</a:t>
                      </a:r>
                      <a:endParaRPr lang="en-US" sz="11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r h="548640">
                <a:tc>
                  <a:txBody>
                    <a:bodyPr/>
                    <a:lstStyle/>
                    <a:p>
                      <a:pPr algn="l" indent="0" marL="0">
                        <a:buNone/>
                      </a:pPr>
                      <a:r>
                        <a:rPr lang="en-US" sz="1150" b="1" dirty="0">
                          <a:solidFill>
                            <a:srgbClr val="2C231C"/>
                          </a:solidFill>
                          <a:latin typeface="Sarabun" pitchFamily="34" charset="0"/>
                          <a:ea typeface="Sarabun" pitchFamily="34" charset="-122"/>
                          <a:cs typeface="Sarabun" pitchFamily="34" charset="-120"/>
                        </a:rPr>
                        <a:t>The scoreboard may be measuring the weather</a:t>
                      </a:r>
                      <a:endParaRPr lang="en-US" sz="11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150" dirty="0">
                          <a:solidFill>
                            <a:srgbClr val="2C231C"/>
                          </a:solidFill>
                          <a:latin typeface="Sarabun" pitchFamily="34" charset="0"/>
                          <a:ea typeface="Sarabun" pitchFamily="34" charset="-122"/>
                          <a:cs typeface="Sarabun" pitchFamily="34" charset="-120"/>
                        </a:rPr>
                        <a:t>2026 had the longest burning ban on record and the worst fire season on record. When effort and the headline number move in opposite directions, the number needs checking</a:t>
                      </a:r>
                      <a:endParaRPr lang="en-US" sz="11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A"/>
        </a:solidFill>
      </p:bgPr>
    </p:bg>
    <p:spTree>
      <p:nvGrpSpPr>
        <p:cNvPr id="1" name=""/>
        <p:cNvGrpSpPr/>
        <p:nvPr/>
      </p:nvGrpSpPr>
      <p:grpSpPr>
        <a:xfrm>
          <a:off x="0" y="0"/>
          <a:ext cx="0" cy="0"/>
          <a:chOff x="0" y="0"/>
          <a:chExt cx="0" cy="0"/>
        </a:xfrm>
      </p:grpSpPr>
      <p:sp>
        <p:nvSpPr>
          <p:cNvPr id="2" name="Text 0"/>
          <p:cNvSpPr txBox="1"/>
          <p:nvPr/>
        </p:nvSpPr>
        <p:spPr>
          <a:xfrm>
            <a:off x="502920" y="274320"/>
            <a:ext cx="8138160" cy="201168"/>
          </a:xfrm>
          <a:prstGeom prst="rect">
            <a:avLst/>
          </a:prstGeom>
          <a:noFill/>
          <a:ln/>
        </p:spPr>
        <p:txBody>
          <a:bodyPr wrap="square" lIns="0" tIns="0" rIns="0" bIns="0" rtlCol="0" anchor="ctr"/>
          <a:lstStyle/>
          <a:p>
            <a:pPr indent="0" marL="0">
              <a:buNone/>
            </a:pPr>
            <a:r>
              <a:rPr lang="en-US" sz="1050" b="1" spc="160" kern="0" dirty="0">
                <a:solidFill>
                  <a:srgbClr val="BF5722"/>
                </a:solidFill>
                <a:latin typeface="Sarabun" pitchFamily="34" charset="0"/>
                <a:ea typeface="Sarabun" pitchFamily="34" charset="-122"/>
                <a:cs typeface="Sarabun" pitchFamily="34" charset="-120"/>
              </a:rPr>
              <a:t>HOW THE CODE WORKS  ·  1 OF 2</a:t>
            </a:r>
            <a:endParaRPr lang="en-US" sz="1050" dirty="0"/>
          </a:p>
        </p:txBody>
      </p:sp>
      <p:sp>
        <p:nvSpPr>
          <p:cNvPr id="3" name="Text 1"/>
          <p:cNvSpPr txBox="1"/>
          <p:nvPr/>
        </p:nvSpPr>
        <p:spPr>
          <a:xfrm>
            <a:off x="502920" y="493776"/>
            <a:ext cx="8138160" cy="512064"/>
          </a:xfrm>
          <a:prstGeom prst="rect">
            <a:avLst/>
          </a:prstGeom>
          <a:noFill/>
          <a:ln/>
        </p:spPr>
        <p:txBody>
          <a:bodyPr wrap="square" lIns="0" tIns="0" rIns="0" bIns="0" rtlCol="0" anchor="t"/>
          <a:lstStyle/>
          <a:p>
            <a:pPr indent="0" marL="0">
              <a:buNone/>
            </a:pPr>
            <a:r>
              <a:rPr lang="en-US" sz="2500" b="1" dirty="0">
                <a:solidFill>
                  <a:srgbClr val="2C231C"/>
                </a:solidFill>
                <a:latin typeface="Sarabun" pitchFamily="34" charset="0"/>
                <a:ea typeface="Sarabun" pitchFamily="34" charset="-122"/>
                <a:cs typeface="Sarabun" pitchFamily="34" charset="-120"/>
              </a:rPr>
              <a:t>One command runs everything</a:t>
            </a:r>
            <a:endParaRPr lang="en-US" sz="2500" dirty="0"/>
          </a:p>
        </p:txBody>
      </p:sp>
      <p:sp>
        <p:nvSpPr>
          <p:cNvPr id="4" name="Text 2"/>
          <p:cNvSpPr txBox="1"/>
          <p:nvPr/>
        </p:nvSpPr>
        <p:spPr>
          <a:xfrm>
            <a:off x="502920" y="1060704"/>
            <a:ext cx="8138160" cy="310896"/>
          </a:xfrm>
          <a:prstGeom prst="rect">
            <a:avLst/>
          </a:prstGeom>
          <a:noFill/>
          <a:ln/>
        </p:spPr>
        <p:txBody>
          <a:bodyPr wrap="square" lIns="0" tIns="0" rIns="0" bIns="0" rtlCol="0" anchor="t"/>
          <a:lstStyle/>
          <a:p>
            <a:pPr indent="0" marL="0">
              <a:buNone/>
            </a:pPr>
            <a:r>
              <a:rPr lang="en-US" sz="1350" b="1" dirty="0">
                <a:solidFill>
                  <a:srgbClr val="2C231C"/>
                </a:solidFill>
                <a:latin typeface="Sarabun" pitchFamily="34" charset="0"/>
                <a:ea typeface="Sarabun" pitchFamily="34" charset="-122"/>
                <a:cs typeface="Sarabun" pitchFamily="34" charset="-120"/>
              </a:rPr>
              <a:t>Nothing in this deck was produced by hand. Every number comes back if you run one line.</a:t>
            </a:r>
            <a:endParaRPr lang="en-US" sz="13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481328"/>
          <a:ext cx="4572000" cy="914400"/>
        </p:xfrm>
        <a:graphic>
          <a:graphicData uri="http://schemas.openxmlformats.org/drawingml/2006/table">
            <a:tbl>
              <a:tblPr/>
              <a:tblGrid>
                <a:gridCol w="1691640"/>
                <a:gridCol w="2880360"/>
              </a:tblGrid>
              <a:tr h="338328">
                <a:tc>
                  <a:txBody>
                    <a:bodyPr/>
                    <a:lstStyle/>
                    <a:p>
                      <a:pPr algn="l" indent="0" marL="0">
                        <a:buNone/>
                      </a:pPr>
                      <a:r>
                        <a:rPr lang="en-US" sz="1050" b="1" dirty="0">
                          <a:solidFill>
                            <a:srgbClr val="7C6B5B"/>
                          </a:solidFill>
                          <a:latin typeface="Sarabun" pitchFamily="34" charset="0"/>
                          <a:ea typeface="Sarabun" pitchFamily="34" charset="-122"/>
                          <a:cs typeface="Sarabun" pitchFamily="34" charset="-120"/>
                        </a:rPr>
                        <a:t>File</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5EDE1"/>
                    </a:solidFill>
                  </a:tcPr>
                </a:tc>
                <a:tc>
                  <a:txBody>
                    <a:bodyPr/>
                    <a:lstStyle/>
                    <a:p>
                      <a:pPr algn="l" indent="0" marL="0">
                        <a:buNone/>
                      </a:pPr>
                      <a:r>
                        <a:rPr lang="en-US" sz="1050" b="1" dirty="0">
                          <a:solidFill>
                            <a:srgbClr val="7C6B5B"/>
                          </a:solidFill>
                          <a:latin typeface="Sarabun" pitchFamily="34" charset="0"/>
                          <a:ea typeface="Sarabun" pitchFamily="34" charset="-122"/>
                          <a:cs typeface="Sarabun" pitchFamily="34" charset="-120"/>
                        </a:rPr>
                        <a:t>What it does</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5EDE1"/>
                    </a:solidFill>
                  </a:tcPr>
                </a:tc>
              </a:tr>
              <a:tr h="338328">
                <a:tc>
                  <a:txBody>
                    <a:bodyPr/>
                    <a:lstStyle/>
                    <a:p>
                      <a:pPr algn="l" indent="0" marL="0">
                        <a:buNone/>
                      </a:pPr>
                      <a:r>
                        <a:rPr lang="en-US" sz="1050" b="1" dirty="0">
                          <a:solidFill>
                            <a:srgbClr val="2C231C"/>
                          </a:solidFill>
                          <a:latin typeface="Sarabun" pitchFamily="34" charset="0"/>
                          <a:ea typeface="Sarabun" pitchFamily="34" charset="-122"/>
                          <a:cs typeface="Sarabun" pitchFamily="34" charset="-120"/>
                        </a:rPr>
                        <a:t>src/config.py</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050" dirty="0">
                          <a:solidFill>
                            <a:srgbClr val="2C231C"/>
                          </a:solidFill>
                          <a:latin typeface="Sarabun" pitchFamily="34" charset="0"/>
                          <a:ea typeface="Sarabun" pitchFamily="34" charset="-122"/>
                          <a:cs typeface="Sarabun" pitchFamily="34" charset="-120"/>
                        </a:rPr>
                        <a:t>every path, URL and constant, in one place</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r h="338328">
                <a:tc>
                  <a:txBody>
                    <a:bodyPr/>
                    <a:lstStyle/>
                    <a:p>
                      <a:pPr algn="l" indent="0" marL="0">
                        <a:buNone/>
                      </a:pPr>
                      <a:r>
                        <a:rPr lang="en-US" sz="1050" b="1" dirty="0">
                          <a:solidFill>
                            <a:srgbClr val="2C231C"/>
                          </a:solidFill>
                          <a:latin typeface="Sarabun" pitchFamily="34" charset="0"/>
                          <a:ea typeface="Sarabun" pitchFamily="34" charset="-122"/>
                          <a:cs typeface="Sarabun" pitchFamily="34" charset="-120"/>
                        </a:rPr>
                        <a:t>src/fetch_data.py</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050" dirty="0">
                          <a:solidFill>
                            <a:srgbClr val="2C231C"/>
                          </a:solidFill>
                          <a:latin typeface="Sarabun" pitchFamily="34" charset="0"/>
                          <a:ea typeface="Sarabun" pitchFamily="34" charset="-122"/>
                          <a:cs typeface="Sarabun" pitchFamily="34" charset="-120"/>
                        </a:rPr>
                        <a:t>downloads, saves the raw response untouched</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r h="338328">
                <a:tc>
                  <a:txBody>
                    <a:bodyPr/>
                    <a:lstStyle/>
                    <a:p>
                      <a:pPr algn="l" indent="0" marL="0">
                        <a:buNone/>
                      </a:pPr>
                      <a:r>
                        <a:rPr lang="en-US" sz="1050" b="1" dirty="0">
                          <a:solidFill>
                            <a:srgbClr val="2C231C"/>
                          </a:solidFill>
                          <a:latin typeface="Sarabun" pitchFamily="34" charset="0"/>
                          <a:ea typeface="Sarabun" pitchFamily="34" charset="-122"/>
                          <a:cs typeface="Sarabun" pitchFamily="34" charset="-120"/>
                        </a:rPr>
                        <a:t>src/prepare_data.py</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050" dirty="0">
                          <a:solidFill>
                            <a:srgbClr val="2C231C"/>
                          </a:solidFill>
                          <a:latin typeface="Sarabun" pitchFamily="34" charset="0"/>
                          <a:ea typeface="Sarabun" pitchFamily="34" charset="-122"/>
                          <a:cs typeface="Sarabun" pitchFamily="34" charset="-120"/>
                        </a:rPr>
                        <a:t>clean, join, build features</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r h="338328">
                <a:tc>
                  <a:txBody>
                    <a:bodyPr/>
                    <a:lstStyle/>
                    <a:p>
                      <a:pPr algn="l" indent="0" marL="0">
                        <a:buNone/>
                      </a:pPr>
                      <a:r>
                        <a:rPr lang="en-US" sz="1050" b="1" dirty="0">
                          <a:solidFill>
                            <a:srgbClr val="2C231C"/>
                          </a:solidFill>
                          <a:latin typeface="Sarabun" pitchFamily="34" charset="0"/>
                          <a:ea typeface="Sarabun" pitchFamily="34" charset="-122"/>
                          <a:cs typeface="Sarabun" pitchFamily="34" charset="-120"/>
                        </a:rPr>
                        <a:t>src/checks.py</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050" dirty="0">
                          <a:solidFill>
                            <a:srgbClr val="2C231C"/>
                          </a:solidFill>
                          <a:latin typeface="Sarabun" pitchFamily="34" charset="0"/>
                          <a:ea typeface="Sarabun" pitchFamily="34" charset="-122"/>
                          <a:cs typeface="Sarabun" pitchFamily="34" charset="-120"/>
                        </a:rPr>
                        <a:t>the six checkpoints</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r h="338328">
                <a:tc>
                  <a:txBody>
                    <a:bodyPr/>
                    <a:lstStyle/>
                    <a:p>
                      <a:pPr algn="l" indent="0" marL="0">
                        <a:buNone/>
                      </a:pPr>
                      <a:r>
                        <a:rPr lang="en-US" sz="1050" b="1" dirty="0">
                          <a:solidFill>
                            <a:srgbClr val="2C231C"/>
                          </a:solidFill>
                          <a:latin typeface="Sarabun" pitchFamily="34" charset="0"/>
                          <a:ea typeface="Sarabun" pitchFamily="34" charset="-122"/>
                          <a:cs typeface="Sarabun" pitchFamily="34" charset="-120"/>
                        </a:rPr>
                        <a:t>src/analyse.py</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050" dirty="0">
                          <a:solidFill>
                            <a:srgbClr val="2C231C"/>
                          </a:solidFill>
                          <a:latin typeface="Sarabun" pitchFamily="34" charset="0"/>
                          <a:ea typeface="Sarabun" pitchFamily="34" charset="-122"/>
                          <a:cs typeface="Sarabun" pitchFamily="34" charset="-120"/>
                        </a:rPr>
                        <a:t>the figures</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r h="338328">
                <a:tc>
                  <a:txBody>
                    <a:bodyPr/>
                    <a:lstStyle/>
                    <a:p>
                      <a:pPr algn="l" indent="0" marL="0">
                        <a:buNone/>
                      </a:pPr>
                      <a:r>
                        <a:rPr lang="en-US" sz="1050" b="1" dirty="0">
                          <a:solidFill>
                            <a:srgbClr val="2C231C"/>
                          </a:solidFill>
                          <a:latin typeface="Sarabun" pitchFamily="34" charset="0"/>
                          <a:ea typeface="Sarabun" pitchFamily="34" charset="-122"/>
                          <a:cs typeface="Sarabun" pitchFamily="34" charset="-120"/>
                        </a:rPr>
                        <a:t>src/model.py</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050" dirty="0">
                          <a:solidFill>
                            <a:srgbClr val="2C231C"/>
                          </a:solidFill>
                          <a:latin typeface="Sarabun" pitchFamily="34" charset="0"/>
                          <a:ea typeface="Sarabun" pitchFamily="34" charset="-122"/>
                          <a:cs typeface="Sarabun" pitchFamily="34" charset="-120"/>
                        </a:rPr>
                        <a:t>baseline first, then models, then scoring</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r h="338328">
                <a:tc>
                  <a:txBody>
                    <a:bodyPr/>
                    <a:lstStyle/>
                    <a:p>
                      <a:pPr algn="l" indent="0" marL="0">
                        <a:buNone/>
                      </a:pPr>
                      <a:r>
                        <a:rPr lang="en-US" sz="1050" b="1" dirty="0">
                          <a:solidFill>
                            <a:srgbClr val="2C231C"/>
                          </a:solidFill>
                          <a:latin typeface="Sarabun" pitchFamily="34" charset="0"/>
                          <a:ea typeface="Sarabun" pitchFamily="34" charset="-122"/>
                          <a:cs typeface="Sarabun" pitchFamily="34" charset="-120"/>
                        </a:rPr>
                        <a:t>run_all.py</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050" dirty="0">
                          <a:solidFill>
                            <a:srgbClr val="2C231C"/>
                          </a:solidFill>
                          <a:latin typeface="Sarabun" pitchFamily="34" charset="0"/>
                          <a:ea typeface="Sarabun" pitchFamily="34" charset="-122"/>
                          <a:cs typeface="Sarabun" pitchFamily="34" charset="-120"/>
                        </a:rPr>
                        <a:t>runs all of the above in order</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bl>
          </a:graphicData>
        </a:graphic>
      </p:graphicFrame>
      <p:sp>
        <p:nvSpPr>
          <p:cNvPr id="6" name="Shape 3"/>
          <p:cNvSpPr/>
          <p:nvPr/>
        </p:nvSpPr>
        <p:spPr>
          <a:xfrm>
            <a:off x="5349240" y="1481328"/>
            <a:ext cx="3291840" cy="1143000"/>
          </a:xfrm>
          <a:prstGeom prst="roundRect">
            <a:avLst>
              <a:gd name="adj" fmla="val 6400"/>
            </a:avLst>
          </a:prstGeom>
          <a:solidFill>
            <a:srgbClr val="2A2018"/>
          </a:solidFill>
          <a:ln w="12700">
            <a:solidFill>
              <a:srgbClr val="2A2018"/>
            </a:solidFill>
            <a:prstDash val="solid"/>
          </a:ln>
        </p:spPr>
      </p:sp>
      <p:sp>
        <p:nvSpPr>
          <p:cNvPr id="7" name="Text 4"/>
          <p:cNvSpPr txBox="1"/>
          <p:nvPr/>
        </p:nvSpPr>
        <p:spPr>
          <a:xfrm>
            <a:off x="5577840" y="1645920"/>
            <a:ext cx="3017520" cy="274320"/>
          </a:xfrm>
          <a:prstGeom prst="rect">
            <a:avLst/>
          </a:prstGeom>
          <a:noFill/>
          <a:ln/>
        </p:spPr>
        <p:txBody>
          <a:bodyPr wrap="square" lIns="0" tIns="0" rIns="0" bIns="0" rtlCol="0" anchor="ctr"/>
          <a:lstStyle/>
          <a:p>
            <a:pPr indent="0" marL="0">
              <a:buNone/>
            </a:pPr>
            <a:r>
              <a:rPr lang="en-US" sz="1400" b="1" dirty="0">
                <a:solidFill>
                  <a:srgbClr val="C9B27A"/>
                </a:solidFill>
                <a:latin typeface="Courier New" pitchFamily="34" charset="0"/>
                <a:ea typeface="Courier New" pitchFamily="34" charset="-122"/>
                <a:cs typeface="Courier New" pitchFamily="34" charset="-120"/>
              </a:rPr>
              <a:t>$ python run_all.py</a:t>
            </a:r>
            <a:endParaRPr lang="en-US" sz="1400" dirty="0"/>
          </a:p>
        </p:txBody>
      </p:sp>
      <p:sp>
        <p:nvSpPr>
          <p:cNvPr id="8" name="Text 5"/>
          <p:cNvSpPr txBox="1"/>
          <p:nvPr/>
        </p:nvSpPr>
        <p:spPr>
          <a:xfrm>
            <a:off x="5577840" y="1956816"/>
            <a:ext cx="3017520" cy="566928"/>
          </a:xfrm>
          <a:prstGeom prst="rect">
            <a:avLst/>
          </a:prstGeom>
          <a:noFill/>
          <a:ln/>
        </p:spPr>
        <p:txBody>
          <a:bodyPr wrap="square" lIns="0" tIns="0" rIns="0" bIns="0" rtlCol="0" anchor="ctr"/>
          <a:lstStyle/>
          <a:p>
            <a:pPr indent="0" marL="0">
              <a:buNone/>
            </a:pPr>
            <a:r>
              <a:rPr lang="en-US" sz="1050" dirty="0">
                <a:solidFill>
                  <a:srgbClr val="F0E5D6"/>
                </a:solidFill>
                <a:latin typeface="Sarabun" pitchFamily="34" charset="0"/>
                <a:ea typeface="Sarabun" pitchFamily="34" charset="-122"/>
                <a:cs typeface="Sarabun" pitchFamily="34" charset="-120"/>
              </a:rPr>
              <a:t>Fetch, prepare, check, draw, model.</a:t>
            </a:r>
            <a:endParaRPr lang="en-US" sz="1050" dirty="0"/>
          </a:p>
          <a:p>
            <a:pPr indent="0" marL="0">
              <a:buNone/>
            </a:pPr>
            <a:r>
              <a:rPr lang="en-US" sz="1050" dirty="0">
                <a:solidFill>
                  <a:srgbClr val="F0E5D6"/>
                </a:solidFill>
                <a:latin typeface="Sarabun" pitchFamily="34" charset="0"/>
                <a:ea typeface="Sarabun" pitchFamily="34" charset="-122"/>
                <a:cs typeface="Sarabun" pitchFamily="34" charset="-120"/>
              </a:rPr>
              <a:t>Each step wrapped, so one network failure does not stop the rest.</a:t>
            </a:r>
            <a:endParaRPr lang="en-US" sz="1050" dirty="0"/>
          </a:p>
        </p:txBody>
      </p:sp>
      <p:sp>
        <p:nvSpPr>
          <p:cNvPr id="9" name="Text 6"/>
          <p:cNvSpPr txBox="1"/>
          <p:nvPr/>
        </p:nvSpPr>
        <p:spPr>
          <a:xfrm>
            <a:off x="5577840" y="2852928"/>
            <a:ext cx="1371600" cy="603504"/>
          </a:xfrm>
          <a:prstGeom prst="rect">
            <a:avLst/>
          </a:prstGeom>
          <a:noFill/>
          <a:ln/>
        </p:spPr>
        <p:txBody>
          <a:bodyPr wrap="square" lIns="0" tIns="0" rIns="0" bIns="0" rtlCol="0" anchor="ctr"/>
          <a:lstStyle/>
          <a:p>
            <a:pPr algn="l" indent="0" marL="0">
              <a:buNone/>
            </a:pPr>
            <a:r>
              <a:rPr lang="en-US" sz="3200" b="1" dirty="0">
                <a:solidFill>
                  <a:srgbClr val="BF5722"/>
                </a:solidFill>
                <a:latin typeface="Sarabun" pitchFamily="34" charset="0"/>
                <a:ea typeface="Sarabun" pitchFamily="34" charset="-122"/>
                <a:cs typeface="Sarabun" pitchFamily="34" charset="-120"/>
              </a:rPr>
              <a:t>49</a:t>
            </a:r>
            <a:endParaRPr lang="en-US" sz="3200" dirty="0"/>
          </a:p>
        </p:txBody>
      </p:sp>
      <p:sp>
        <p:nvSpPr>
          <p:cNvPr id="10" name="Text 7"/>
          <p:cNvSpPr txBox="1"/>
          <p:nvPr/>
        </p:nvSpPr>
        <p:spPr>
          <a:xfrm>
            <a:off x="5577840" y="3383280"/>
            <a:ext cx="1371600" cy="548640"/>
          </a:xfrm>
          <a:prstGeom prst="rect">
            <a:avLst/>
          </a:prstGeom>
          <a:noFill/>
          <a:ln/>
        </p:spPr>
        <p:txBody>
          <a:bodyPr wrap="square" lIns="0" tIns="0" rIns="0" bIns="0" rtlCol="0" anchor="ctr"/>
          <a:lstStyle/>
          <a:p>
            <a:pPr algn="l" indent="0" marL="0">
              <a:buNone/>
            </a:pPr>
            <a:r>
              <a:rPr lang="en-US" sz="1150" dirty="0">
                <a:solidFill>
                  <a:srgbClr val="7C6B5B"/>
                </a:solidFill>
                <a:latin typeface="Sarabun" pitchFamily="34" charset="0"/>
                <a:ea typeface="Sarabun" pitchFamily="34" charset="-122"/>
                <a:cs typeface="Sarabun" pitchFamily="34" charset="-120"/>
              </a:rPr>
              <a:t>raw API responses,</a:t>
            </a:r>
            <a:endParaRPr lang="en-US" sz="1150" dirty="0"/>
          </a:p>
          <a:p>
            <a:pPr algn="l" indent="0" marL="0">
              <a:buNone/>
            </a:pPr>
            <a:r>
              <a:rPr lang="en-US" sz="1150" dirty="0">
                <a:solidFill>
                  <a:srgbClr val="7C6B5B"/>
                </a:solidFill>
                <a:latin typeface="Sarabun" pitchFamily="34" charset="0"/>
                <a:ea typeface="Sarabun" pitchFamily="34" charset="-122"/>
                <a:cs typeface="Sarabun" pitchFamily="34" charset="-120"/>
              </a:rPr>
              <a:t>saved before parsing</a:t>
            </a:r>
            <a:endParaRPr lang="en-US" sz="1150" dirty="0"/>
          </a:p>
        </p:txBody>
      </p:sp>
      <p:sp>
        <p:nvSpPr>
          <p:cNvPr id="11" name="Text 8"/>
          <p:cNvSpPr txBox="1"/>
          <p:nvPr/>
        </p:nvSpPr>
        <p:spPr>
          <a:xfrm>
            <a:off x="7132320" y="2852928"/>
            <a:ext cx="1554480" cy="603504"/>
          </a:xfrm>
          <a:prstGeom prst="rect">
            <a:avLst/>
          </a:prstGeom>
          <a:noFill/>
          <a:ln/>
        </p:spPr>
        <p:txBody>
          <a:bodyPr wrap="square" lIns="0" tIns="0" rIns="0" bIns="0" rtlCol="0" anchor="ctr"/>
          <a:lstStyle/>
          <a:p>
            <a:pPr algn="l" indent="0" marL="0">
              <a:buNone/>
            </a:pPr>
            <a:r>
              <a:rPr lang="en-US" sz="3200" b="1" dirty="0">
                <a:solidFill>
                  <a:srgbClr val="8A6A2F"/>
                </a:solidFill>
                <a:latin typeface="Sarabun" pitchFamily="34" charset="0"/>
                <a:ea typeface="Sarabun" pitchFamily="34" charset="-122"/>
                <a:cs typeface="Sarabun" pitchFamily="34" charset="-120"/>
              </a:rPr>
              <a:t>128,352</a:t>
            </a:r>
            <a:endParaRPr lang="en-US" sz="3200" dirty="0"/>
          </a:p>
        </p:txBody>
      </p:sp>
      <p:sp>
        <p:nvSpPr>
          <p:cNvPr id="12" name="Text 9"/>
          <p:cNvSpPr txBox="1"/>
          <p:nvPr/>
        </p:nvSpPr>
        <p:spPr>
          <a:xfrm>
            <a:off x="7132320" y="3383280"/>
            <a:ext cx="1554480" cy="548640"/>
          </a:xfrm>
          <a:prstGeom prst="rect">
            <a:avLst/>
          </a:prstGeom>
          <a:noFill/>
          <a:ln/>
        </p:spPr>
        <p:txBody>
          <a:bodyPr wrap="square" lIns="0" tIns="0" rIns="0" bIns="0" rtlCol="0" anchor="ctr"/>
          <a:lstStyle/>
          <a:p>
            <a:pPr algn="l" indent="0" marL="0">
              <a:buNone/>
            </a:pPr>
            <a:r>
              <a:rPr lang="en-US" sz="1150" dirty="0">
                <a:solidFill>
                  <a:srgbClr val="7C6B5B"/>
                </a:solidFill>
                <a:latin typeface="Sarabun" pitchFamily="34" charset="0"/>
                <a:ea typeface="Sarabun" pitchFamily="34" charset="-122"/>
                <a:cs typeface="Sarabun" pitchFamily="34" charset="-120"/>
              </a:rPr>
              <a:t>hourly rows, from</a:t>
            </a:r>
            <a:endParaRPr lang="en-US" sz="1150" dirty="0"/>
          </a:p>
          <a:p>
            <a:pPr algn="l" indent="0" marL="0">
              <a:buNone/>
            </a:pPr>
            <a:r>
              <a:rPr lang="en-US" sz="1150" dirty="0">
                <a:solidFill>
                  <a:srgbClr val="7C6B5B"/>
                </a:solidFill>
                <a:latin typeface="Sarabun" pitchFamily="34" charset="0"/>
                <a:ea typeface="Sarabun" pitchFamily="34" charset="-122"/>
                <a:cs typeface="Sarabun" pitchFamily="34" charset="-120"/>
              </a:rPr>
              <a:t>each of three sources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A"/>
        </a:solidFill>
      </p:bgPr>
    </p:bg>
    <p:spTree>
      <p:nvGrpSpPr>
        <p:cNvPr id="1" name=""/>
        <p:cNvGrpSpPr/>
        <p:nvPr/>
      </p:nvGrpSpPr>
      <p:grpSpPr>
        <a:xfrm>
          <a:off x="0" y="0"/>
          <a:ext cx="0" cy="0"/>
          <a:chOff x="0" y="0"/>
          <a:chExt cx="0" cy="0"/>
        </a:xfrm>
      </p:grpSpPr>
      <p:sp>
        <p:nvSpPr>
          <p:cNvPr id="2" name="Text 0"/>
          <p:cNvSpPr txBox="1"/>
          <p:nvPr/>
        </p:nvSpPr>
        <p:spPr>
          <a:xfrm>
            <a:off x="502920" y="274320"/>
            <a:ext cx="8138160" cy="201168"/>
          </a:xfrm>
          <a:prstGeom prst="rect">
            <a:avLst/>
          </a:prstGeom>
          <a:noFill/>
          <a:ln/>
        </p:spPr>
        <p:txBody>
          <a:bodyPr wrap="square" lIns="0" tIns="0" rIns="0" bIns="0" rtlCol="0" anchor="ctr"/>
          <a:lstStyle/>
          <a:p>
            <a:pPr indent="0" marL="0">
              <a:buNone/>
            </a:pPr>
            <a:r>
              <a:rPr lang="en-US" sz="1050" b="1" spc="160" kern="0" dirty="0">
                <a:solidFill>
                  <a:srgbClr val="BF5722"/>
                </a:solidFill>
                <a:latin typeface="Sarabun" pitchFamily="34" charset="0"/>
                <a:ea typeface="Sarabun" pitchFamily="34" charset="-122"/>
                <a:cs typeface="Sarabun" pitchFamily="34" charset="-120"/>
              </a:rPr>
              <a:t>HOW THE CODE WORKS  ·  2 OF 2</a:t>
            </a:r>
            <a:endParaRPr lang="en-US" sz="1050" dirty="0"/>
          </a:p>
        </p:txBody>
      </p:sp>
      <p:sp>
        <p:nvSpPr>
          <p:cNvPr id="3" name="Text 1"/>
          <p:cNvSpPr txBox="1"/>
          <p:nvPr/>
        </p:nvSpPr>
        <p:spPr>
          <a:xfrm>
            <a:off x="502920" y="493776"/>
            <a:ext cx="8138160" cy="512064"/>
          </a:xfrm>
          <a:prstGeom prst="rect">
            <a:avLst/>
          </a:prstGeom>
          <a:noFill/>
          <a:ln/>
        </p:spPr>
        <p:txBody>
          <a:bodyPr wrap="square" lIns="0" tIns="0" rIns="0" bIns="0" rtlCol="0" anchor="t"/>
          <a:lstStyle/>
          <a:p>
            <a:pPr indent="0" marL="0">
              <a:buNone/>
            </a:pPr>
            <a:r>
              <a:rPr lang="en-US" sz="2500" b="1" dirty="0">
                <a:solidFill>
                  <a:srgbClr val="2C231C"/>
                </a:solidFill>
                <a:latin typeface="Sarabun" pitchFamily="34" charset="0"/>
                <a:ea typeface="Sarabun" pitchFamily="34" charset="-122"/>
                <a:cs typeface="Sarabun" pitchFamily="34" charset="-120"/>
              </a:rPr>
              <a:t>Four places the code would run fine and answer wrong</a:t>
            </a:r>
            <a:endParaRPr lang="en-US" sz="2500" dirty="0"/>
          </a:p>
        </p:txBody>
      </p:sp>
      <p:sp>
        <p:nvSpPr>
          <p:cNvPr id="4" name="Text 2"/>
          <p:cNvSpPr txBox="1"/>
          <p:nvPr/>
        </p:nvSpPr>
        <p:spPr>
          <a:xfrm>
            <a:off x="502920" y="1060704"/>
            <a:ext cx="8138160" cy="310896"/>
          </a:xfrm>
          <a:prstGeom prst="rect">
            <a:avLst/>
          </a:prstGeom>
          <a:noFill/>
          <a:ln/>
        </p:spPr>
        <p:txBody>
          <a:bodyPr wrap="square" lIns="0" tIns="0" rIns="0" bIns="0" rtlCol="0" anchor="t"/>
          <a:lstStyle/>
          <a:p>
            <a:pPr indent="0" marL="0">
              <a:buNone/>
            </a:pPr>
            <a:r>
              <a:rPr lang="en-US" sz="1350" b="1" dirty="0">
                <a:solidFill>
                  <a:srgbClr val="2C231C"/>
                </a:solidFill>
                <a:latin typeface="Sarabun" pitchFamily="34" charset="0"/>
                <a:ea typeface="Sarabun" pitchFamily="34" charset="-122"/>
                <a:cs typeface="Sarabun" pitchFamily="34" charset="-120"/>
              </a:rPr>
              <a:t>Each row is a trap that raises no error. The right column is what the code does instead.</a:t>
            </a:r>
            <a:endParaRPr lang="en-US" sz="13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536192"/>
          <a:ext cx="8138160" cy="914400"/>
        </p:xfrm>
        <a:graphic>
          <a:graphicData uri="http://schemas.openxmlformats.org/drawingml/2006/table">
            <a:tbl>
              <a:tblPr/>
              <a:tblGrid>
                <a:gridCol w="4206240"/>
                <a:gridCol w="3931920"/>
              </a:tblGrid>
              <a:tr h="658368">
                <a:tc>
                  <a:txBody>
                    <a:bodyPr/>
                    <a:lstStyle/>
                    <a:p>
                      <a:pPr algn="l" indent="0" marL="0">
                        <a:buNone/>
                      </a:pPr>
                      <a:r>
                        <a:rPr lang="en-US" sz="1100" b="1" dirty="0">
                          <a:solidFill>
                            <a:srgbClr val="7C6B5B"/>
                          </a:solidFill>
                          <a:latin typeface="Sarabun" pitchFamily="34" charset="0"/>
                          <a:ea typeface="Sarabun" pitchFamily="34" charset="-122"/>
                          <a:cs typeface="Sarabun" pitchFamily="34" charset="-120"/>
                        </a:rPr>
                        <a:t>The trap</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5EDE1"/>
                    </a:solidFill>
                  </a:tcPr>
                </a:tc>
                <a:tc>
                  <a:txBody>
                    <a:bodyPr/>
                    <a:lstStyle/>
                    <a:p>
                      <a:pPr algn="l" indent="0" marL="0">
                        <a:buNone/>
                      </a:pPr>
                      <a:r>
                        <a:rPr lang="en-US" sz="1100" b="1" dirty="0">
                          <a:solidFill>
                            <a:srgbClr val="7C6B5B"/>
                          </a:solidFill>
                          <a:latin typeface="Sarabun" pitchFamily="34" charset="0"/>
                          <a:ea typeface="Sarabun" pitchFamily="34" charset="-122"/>
                          <a:cs typeface="Sarabun" pitchFamily="34" charset="-120"/>
                        </a:rPr>
                        <a:t>What the code does</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5EDE1"/>
                    </a:solidFill>
                  </a:tcPr>
                </a:tc>
              </a:tr>
              <a:tr h="658368">
                <a:tc>
                  <a:txBody>
                    <a:bodyPr/>
                    <a:lstStyle/>
                    <a:p>
                      <a:pPr algn="l" indent="0" marL="0">
                        <a:buNone/>
                      </a:pPr>
                      <a:r>
                        <a:rPr lang="en-US" sz="1100" b="1" dirty="0">
                          <a:solidFill>
                            <a:srgbClr val="2C231C"/>
                          </a:solidFill>
                          <a:latin typeface="Sarabun" pitchFamily="34" charset="0"/>
                          <a:ea typeface="Sarabun" pitchFamily="34" charset="-122"/>
                          <a:cs typeface="Sarabun" pitchFamily="34" charset="-120"/>
                        </a:rPr>
                        <a:t>A day with six hours of data averages just as happily as a day with twenty-four</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100" dirty="0">
                          <a:solidFill>
                            <a:srgbClr val="2C231C"/>
                          </a:solidFill>
                          <a:latin typeface="Sarabun" pitchFamily="34" charset="0"/>
                          <a:ea typeface="Sarabun" pitchFamily="34" charset="-122"/>
                          <a:cs typeface="Sarabun" pitchFamily="34" charset="-120"/>
                        </a:rPr>
                        <a:t>Keep a day only if 18 of 24 hours are present. Otherwise drop it, never average it</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r h="658368">
                <a:tc>
                  <a:txBody>
                    <a:bodyPr/>
                    <a:lstStyle/>
                    <a:p>
                      <a:pPr algn="l" indent="0" marL="0">
                        <a:buNone/>
                      </a:pPr>
                      <a:r>
                        <a:rPr lang="en-US" sz="1100" b="1" dirty="0">
                          <a:solidFill>
                            <a:srgbClr val="2C231C"/>
                          </a:solidFill>
                          <a:latin typeface="Sarabun" pitchFamily="34" charset="0"/>
                          <a:ea typeface="Sarabun" pitchFamily="34" charset="-122"/>
                          <a:cs typeface="Sarabun" pitchFamily="34" charset="-120"/>
                        </a:rPr>
                        <a:t>The average of 350° and 10° of wind direction is 180°, the exact opposite direction</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100" dirty="0">
                          <a:solidFill>
                            <a:srgbClr val="2C231C"/>
                          </a:solidFill>
                          <a:latin typeface="Sarabun" pitchFamily="34" charset="0"/>
                          <a:ea typeface="Sarabun" pitchFamily="34" charset="-122"/>
                          <a:cs typeface="Sarabun" pitchFamily="34" charset="-120"/>
                        </a:rPr>
                        <a:t>Average directions as unit vectors, not as numbers</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r h="658368">
                <a:tc>
                  <a:txBody>
                    <a:bodyPr/>
                    <a:lstStyle/>
                    <a:p>
                      <a:pPr algn="l" indent="0" marL="0">
                        <a:buNone/>
                      </a:pPr>
                      <a:r>
                        <a:rPr lang="en-US" sz="1100" b="1" dirty="0">
                          <a:solidFill>
                            <a:srgbClr val="2C231C"/>
                          </a:solidFill>
                          <a:latin typeface="Sarabun" pitchFamily="34" charset="0"/>
                          <a:ea typeface="Sarabun" pitchFamily="34" charset="-122"/>
                          <a:cs typeface="Sarabun" pitchFamily="34" charset="-120"/>
                        </a:rPr>
                        <a:t>Air4Thai writes a missing reading as the text -1, which averages like a real value</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100" dirty="0">
                          <a:solidFill>
                            <a:srgbClr val="2C231C"/>
                          </a:solidFill>
                          <a:latin typeface="Sarabun" pitchFamily="34" charset="0"/>
                          <a:ea typeface="Sarabun" pitchFamily="34" charset="-122"/>
                          <a:cs typeface="Sarabun" pitchFamily="34" charset="-120"/>
                        </a:rPr>
                        <a:t>Mask anything at or below -1 before any arithmetic touches it</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r h="658368">
                <a:tc>
                  <a:txBody>
                    <a:bodyPr/>
                    <a:lstStyle/>
                    <a:p>
                      <a:pPr algn="l" indent="0" marL="0">
                        <a:buNone/>
                      </a:pPr>
                      <a:r>
                        <a:rPr lang="en-US" sz="1100" b="1" dirty="0">
                          <a:solidFill>
                            <a:srgbClr val="2C231C"/>
                          </a:solidFill>
                          <a:latin typeface="Sarabun" pitchFamily="34" charset="0"/>
                          <a:ea typeface="Sarabun" pitchFamily="34" charset="-122"/>
                          <a:cs typeface="Sarabun" pitchFamily="34" charset="-120"/>
                        </a:rPr>
                        <a:t>A feature nobody could know yesterday makes the score look excellent</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100" dirty="0">
                          <a:solidFill>
                            <a:srgbClr val="2C231C"/>
                          </a:solidFill>
                          <a:latin typeface="Sarabun" pitchFamily="34" charset="0"/>
                          <a:ea typeface="Sarabun" pitchFamily="34" charset="-122"/>
                          <a:cs typeface="Sarabun" pitchFamily="34" charset="-120"/>
                        </a:rPr>
                        <a:t>An allow-list guard stops the run with an error. It covers the weather columns. The forecast columns are a gap I state in the limitations</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A"/>
        </a:solidFill>
      </p:bgPr>
    </p:bg>
    <p:spTree>
      <p:nvGrpSpPr>
        <p:cNvPr id="1" name=""/>
        <p:cNvGrpSpPr/>
        <p:nvPr/>
      </p:nvGrpSpPr>
      <p:grpSpPr>
        <a:xfrm>
          <a:off x="0" y="0"/>
          <a:ext cx="0" cy="0"/>
          <a:chOff x="0" y="0"/>
          <a:chExt cx="0" cy="0"/>
        </a:xfrm>
      </p:grpSpPr>
      <p:sp>
        <p:nvSpPr>
          <p:cNvPr id="2" name="Text 0"/>
          <p:cNvSpPr txBox="1"/>
          <p:nvPr/>
        </p:nvSpPr>
        <p:spPr>
          <a:xfrm>
            <a:off x="502920" y="274320"/>
            <a:ext cx="8138160" cy="201168"/>
          </a:xfrm>
          <a:prstGeom prst="rect">
            <a:avLst/>
          </a:prstGeom>
          <a:noFill/>
          <a:ln/>
        </p:spPr>
        <p:txBody>
          <a:bodyPr wrap="square" lIns="0" tIns="0" rIns="0" bIns="0" rtlCol="0" anchor="ctr"/>
          <a:lstStyle/>
          <a:p>
            <a:pPr indent="0" marL="0">
              <a:buNone/>
            </a:pPr>
            <a:r>
              <a:rPr lang="en-US" sz="1050" b="1" spc="160" kern="0" dirty="0">
                <a:solidFill>
                  <a:srgbClr val="BF5722"/>
                </a:solidFill>
                <a:latin typeface="Sarabun" pitchFamily="34" charset="0"/>
                <a:ea typeface="Sarabun" pitchFamily="34" charset="-122"/>
                <a:cs typeface="Sarabun" pitchFamily="34" charset="-120"/>
              </a:rPr>
              <a:t>DATA QUALITY  ·  CHECKPOINT C3</a:t>
            </a:r>
            <a:endParaRPr lang="en-US" sz="1050" dirty="0"/>
          </a:p>
        </p:txBody>
      </p:sp>
      <p:sp>
        <p:nvSpPr>
          <p:cNvPr id="3" name="Text 1"/>
          <p:cNvSpPr txBox="1"/>
          <p:nvPr/>
        </p:nvSpPr>
        <p:spPr>
          <a:xfrm>
            <a:off x="502920" y="493776"/>
            <a:ext cx="8138160" cy="512064"/>
          </a:xfrm>
          <a:prstGeom prst="rect">
            <a:avLst/>
          </a:prstGeom>
          <a:noFill/>
          <a:ln/>
        </p:spPr>
        <p:txBody>
          <a:bodyPr wrap="square" lIns="0" tIns="0" rIns="0" bIns="0" rtlCol="0" anchor="t"/>
          <a:lstStyle/>
          <a:p>
            <a:pPr indent="0" marL="0">
              <a:buNone/>
            </a:pPr>
            <a:r>
              <a:rPr lang="en-US" sz="2500" b="1" dirty="0">
                <a:solidFill>
                  <a:srgbClr val="2C231C"/>
                </a:solidFill>
                <a:latin typeface="Sarabun" pitchFamily="34" charset="0"/>
                <a:ea typeface="Sarabun" pitchFamily="34" charset="-122"/>
                <a:cs typeface="Sarabun" pitchFamily="34" charset="-120"/>
              </a:rPr>
              <a:t>The data is not measured. It is a model.</a:t>
            </a:r>
            <a:endParaRPr lang="en-US" sz="2500" dirty="0"/>
          </a:p>
        </p:txBody>
      </p:sp>
      <p:sp>
        <p:nvSpPr>
          <p:cNvPr id="4" name="Text 2"/>
          <p:cNvSpPr txBox="1"/>
          <p:nvPr/>
        </p:nvSpPr>
        <p:spPr>
          <a:xfrm>
            <a:off x="502920" y="1060704"/>
            <a:ext cx="8138160" cy="310896"/>
          </a:xfrm>
          <a:prstGeom prst="rect">
            <a:avLst/>
          </a:prstGeom>
          <a:noFill/>
          <a:ln/>
        </p:spPr>
        <p:txBody>
          <a:bodyPr wrap="square" lIns="0" tIns="0" rIns="0" bIns="0" rtlCol="0" anchor="t"/>
          <a:lstStyle/>
          <a:p>
            <a:pPr indent="0" marL="0">
              <a:buNone/>
            </a:pPr>
            <a:r>
              <a:rPr lang="en-US" sz="1350" b="1" dirty="0">
                <a:solidFill>
                  <a:srgbClr val="2C231C"/>
                </a:solidFill>
                <a:latin typeface="Sarabun" pitchFamily="34" charset="0"/>
                <a:ea typeface="Sarabun" pitchFamily="34" charset="-122"/>
                <a:cs typeface="Sarabun" pitchFamily="34" charset="-120"/>
              </a:rPr>
              <a:t>38 columns are exactly 0.0000% missing across three and a half years. No instrument is that perfect.</a:t>
            </a:r>
            <a:endParaRPr lang="en-US" sz="1350" dirty="0"/>
          </a:p>
        </p:txBody>
      </p:sp>
      <p:sp>
        <p:nvSpPr>
          <p:cNvPr id="5" name="Shape 3"/>
          <p:cNvSpPr/>
          <p:nvPr/>
        </p:nvSpPr>
        <p:spPr>
          <a:xfrm>
            <a:off x="502920" y="1481328"/>
            <a:ext cx="2743200" cy="1371600"/>
          </a:xfrm>
          <a:prstGeom prst="roundRect">
            <a:avLst>
              <a:gd name="adj" fmla="val 5333"/>
            </a:avLst>
          </a:prstGeom>
          <a:solidFill>
            <a:srgbClr val="FBE8D8"/>
          </a:solidFill>
          <a:ln w="12700">
            <a:solidFill>
              <a:srgbClr val="FBE8D8"/>
            </a:solidFill>
            <a:prstDash val="solid"/>
          </a:ln>
        </p:spPr>
      </p:sp>
      <p:sp>
        <p:nvSpPr>
          <p:cNvPr id="6" name="Text 4"/>
          <p:cNvSpPr txBox="1"/>
          <p:nvPr/>
        </p:nvSpPr>
        <p:spPr>
          <a:xfrm>
            <a:off x="722376" y="1609344"/>
            <a:ext cx="2377440" cy="640080"/>
          </a:xfrm>
          <a:prstGeom prst="rect">
            <a:avLst/>
          </a:prstGeom>
          <a:noFill/>
          <a:ln/>
        </p:spPr>
        <p:txBody>
          <a:bodyPr wrap="square" lIns="0" tIns="0" rIns="0" bIns="0" rtlCol="0" anchor="ctr"/>
          <a:lstStyle/>
          <a:p>
            <a:pPr indent="0" marL="0">
              <a:buNone/>
            </a:pPr>
            <a:r>
              <a:rPr lang="en-US" sz="3800" b="1" dirty="0">
                <a:solidFill>
                  <a:srgbClr val="BF5722"/>
                </a:solidFill>
                <a:latin typeface="Sarabun" pitchFamily="34" charset="0"/>
                <a:ea typeface="Sarabun" pitchFamily="34" charset="-122"/>
                <a:cs typeface="Sarabun" pitchFamily="34" charset="-120"/>
              </a:rPr>
              <a:t>0.0000%</a:t>
            </a:r>
            <a:endParaRPr lang="en-US" sz="3800" dirty="0"/>
          </a:p>
        </p:txBody>
      </p:sp>
      <p:sp>
        <p:nvSpPr>
          <p:cNvPr id="7" name="Text 5"/>
          <p:cNvSpPr txBox="1"/>
          <p:nvPr/>
        </p:nvSpPr>
        <p:spPr>
          <a:xfrm>
            <a:off x="722376" y="2249424"/>
            <a:ext cx="2377440" cy="512064"/>
          </a:xfrm>
          <a:prstGeom prst="rect">
            <a:avLst/>
          </a:prstGeom>
          <a:noFill/>
          <a:ln/>
        </p:spPr>
        <p:txBody>
          <a:bodyPr wrap="square" lIns="0" tIns="0" rIns="0" bIns="0" rtlCol="0" anchor="ctr"/>
          <a:lstStyle/>
          <a:p>
            <a:pPr indent="0" marL="0">
              <a:buNone/>
            </a:pPr>
            <a:r>
              <a:rPr lang="en-US" sz="1100" dirty="0">
                <a:solidFill>
                  <a:srgbClr val="2C231C"/>
                </a:solidFill>
                <a:latin typeface="Sarabun" pitchFamily="34" charset="0"/>
                <a:ea typeface="Sarabun" pitchFamily="34" charset="-122"/>
                <a:cs typeface="Sarabun" pitchFamily="34" charset="-120"/>
              </a:rPr>
              <a:t>missing, 38 columns,</a:t>
            </a:r>
            <a:endParaRPr lang="en-US" sz="1100" dirty="0"/>
          </a:p>
          <a:p>
            <a:pPr indent="0" marL="0">
              <a:buNone/>
            </a:pPr>
            <a:r>
              <a:rPr lang="en-US" sz="1100" dirty="0">
                <a:solidFill>
                  <a:srgbClr val="2C231C"/>
                </a:solidFill>
                <a:latin typeface="Sarabun" pitchFamily="34" charset="0"/>
                <a:ea typeface="Sarabun" pitchFamily="34" charset="-122"/>
                <a:cs typeface="Sarabun" pitchFamily="34" charset="-120"/>
              </a:rPr>
              <a:t>3.5 years of hourly data</a:t>
            </a:r>
            <a:endParaRPr lang="en-US" sz="1100" dirty="0"/>
          </a:p>
        </p:txBody>
      </p:sp>
      <p:sp>
        <p:nvSpPr>
          <p:cNvPr id="8" name="Text 6"/>
          <p:cNvSpPr txBox="1"/>
          <p:nvPr/>
        </p:nvSpPr>
        <p:spPr>
          <a:xfrm>
            <a:off x="3520440" y="1517904"/>
            <a:ext cx="5120640" cy="1298448"/>
          </a:xfrm>
          <a:prstGeom prst="rect">
            <a:avLst/>
          </a:prstGeom>
          <a:noFill/>
          <a:ln/>
        </p:spPr>
        <p:txBody>
          <a:bodyPr wrap="square" lIns="0" tIns="0" rIns="0" bIns="0" rtlCol="0" anchor="t"/>
          <a:lstStyle/>
          <a:p>
            <a:pPr indent="0" marL="0">
              <a:buNone/>
            </a:pPr>
            <a:r>
              <a:rPr lang="en-US" sz="1200" dirty="0">
                <a:solidFill>
                  <a:srgbClr val="2C231C"/>
                </a:solidFill>
                <a:latin typeface="Sarabun" pitchFamily="34" charset="0"/>
                <a:ea typeface="Sarabun" pitchFamily="34" charset="-122"/>
                <a:cs typeface="Sarabun" pitchFamily="34" charset="-120"/>
              </a:rPr>
              <a:t>Real monitors lose data to calibration, power cuts and maintenance. Air4Thai writes those gaps as -1.</a:t>
            </a:r>
            <a:endParaRPr lang="en-US" sz="1200" dirty="0"/>
          </a:p>
          <a:p>
            <a:pPr indent="0" marL="0">
              <a:buNone/>
            </a:pPr>
            <a:r>
              <a:rPr lang="en-US" sz="600" dirty="0">
                <a:solidFill>
                  <a:srgbClr val="2C231C"/>
                </a:solidFill>
                <a:latin typeface="Sarabun" pitchFamily="34" charset="0"/>
                <a:ea typeface="Sarabun" pitchFamily="34" charset="-122"/>
                <a:cs typeface="Sarabun" pitchFamily="34" charset="-120"/>
              </a:rPr>
              <a:t> </a:t>
            </a:r>
            <a:endParaRPr lang="en-US" sz="1200" dirty="0"/>
          </a:p>
          <a:p>
            <a:pPr indent="0" marL="0">
              <a:buNone/>
            </a:pPr>
            <a:r>
              <a:rPr lang="en-US" sz="1200" dirty="0">
                <a:solidFill>
                  <a:srgbClr val="2C231C"/>
                </a:solidFill>
                <a:latin typeface="Sarabun" pitchFamily="34" charset="0"/>
                <a:ea typeface="Sarabun" pitchFamily="34" charset="-122"/>
                <a:cs typeface="Sarabun" pitchFamily="34" charset="-120"/>
              </a:rPr>
              <a:t>A complete series is the signature of model output. The source is Copernicus CAMS, which produces a value for every cell and every hour whether or not anything was measured there.</a:t>
            </a:r>
            <a:endParaRPr lang="en-US" sz="1200" dirty="0"/>
          </a:p>
        </p:txBody>
      </p:sp>
      <p:sp>
        <p:nvSpPr>
          <p:cNvPr id="9" name="Text 7"/>
          <p:cNvSpPr txBox="1"/>
          <p:nvPr/>
        </p:nvSpPr>
        <p:spPr>
          <a:xfrm>
            <a:off x="502920" y="2999232"/>
            <a:ext cx="8138160" cy="310896"/>
          </a:xfrm>
          <a:prstGeom prst="rect">
            <a:avLst/>
          </a:prstGeom>
          <a:noFill/>
          <a:ln/>
        </p:spPr>
        <p:txBody>
          <a:bodyPr wrap="square" lIns="0" tIns="0" rIns="0" bIns="0" rtlCol="0" anchor="t"/>
          <a:lstStyle/>
          <a:p>
            <a:pPr indent="0" marL="0">
              <a:buNone/>
            </a:pPr>
            <a:r>
              <a:rPr lang="en-US" sz="1350" b="1" dirty="0">
                <a:solidFill>
                  <a:srgbClr val="2C231C"/>
                </a:solidFill>
                <a:latin typeface="Sarabun" pitchFamily="34" charset="0"/>
                <a:ea typeface="Sarabun" pitchFamily="34" charset="-122"/>
                <a:cs typeface="Sarabun" pitchFamily="34" charset="-120"/>
              </a:rPr>
              <a:t>Three things follow from that, and they run through everything after this slide.</a:t>
            </a:r>
            <a:endParaRPr lang="en-US" sz="13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3364992"/>
          <a:ext cx="8138160" cy="914400"/>
        </p:xfrm>
        <a:graphic>
          <a:graphicData uri="http://schemas.openxmlformats.org/drawingml/2006/table">
            <a:tbl>
              <a:tblPr/>
              <a:tblGrid>
                <a:gridCol w="3566160"/>
                <a:gridCol w="4572000"/>
              </a:tblGrid>
              <a:tr h="402336">
                <a:tc>
                  <a:txBody>
                    <a:bodyPr/>
                    <a:lstStyle/>
                    <a:p>
                      <a:pPr algn="l" indent="0" marL="0">
                        <a:buNone/>
                      </a:pPr>
                      <a:r>
                        <a:rPr lang="en-US" sz="1100" b="1" dirty="0">
                          <a:solidFill>
                            <a:srgbClr val="2C231C"/>
                          </a:solidFill>
                          <a:latin typeface="Sarabun" pitchFamily="34" charset="0"/>
                          <a:ea typeface="Sarabun" pitchFamily="34" charset="-122"/>
                          <a:cs typeface="Sarabun" pitchFamily="34" charset="-120"/>
                        </a:rPr>
                        <a:t>Errors are model bias, not random noise</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100" dirty="0">
                          <a:solidFill>
                            <a:srgbClr val="2C231C"/>
                          </a:solidFill>
                          <a:latin typeface="Sarabun" pitchFamily="34" charset="0"/>
                          <a:ea typeface="Sarabun" pitchFamily="34" charset="-122"/>
                          <a:cs typeface="Sarabun" pitchFamily="34" charset="-120"/>
                        </a:rPr>
                        <a:t>So they do not average away by collecting more days</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r h="402336">
                <a:tc>
                  <a:txBody>
                    <a:bodyPr/>
                    <a:lstStyle/>
                    <a:p>
                      <a:pPr algn="l" indent="0" marL="0">
                        <a:buNone/>
                      </a:pPr>
                      <a:r>
                        <a:rPr lang="en-US" sz="1100" b="1" dirty="0">
                          <a:solidFill>
                            <a:srgbClr val="2C231C"/>
                          </a:solidFill>
                          <a:latin typeface="Sarabun" pitchFamily="34" charset="0"/>
                          <a:ea typeface="Sarabun" pitchFamily="34" charset="-122"/>
                          <a:cs typeface="Sarabun" pitchFamily="34" charset="-120"/>
                        </a:rPr>
                        <a:t>A model trained on this learns to predict CAMS</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100" dirty="0">
                          <a:solidFill>
                            <a:srgbClr val="2C231C"/>
                          </a:solidFill>
                          <a:latin typeface="Sarabun" pitchFamily="34" charset="0"/>
                          <a:ea typeface="Sarabun" pitchFamily="34" charset="-122"/>
                          <a:cs typeface="Sarabun" pitchFamily="34" charset="-120"/>
                        </a:rPr>
                        <a:t>So it must be retrained on measured data before anyone relies on it</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r h="402336">
                <a:tc>
                  <a:txBody>
                    <a:bodyPr/>
                    <a:lstStyle/>
                    <a:p>
                      <a:pPr algn="l" indent="0" marL="0">
                        <a:buNone/>
                      </a:pPr>
                      <a:r>
                        <a:rPr lang="en-US" sz="1100" b="1" dirty="0">
                          <a:solidFill>
                            <a:srgbClr val="2C231C"/>
                          </a:solidFill>
                          <a:latin typeface="Sarabun" pitchFamily="34" charset="0"/>
                          <a:ea typeface="Sarabun" pitchFamily="34" charset="-122"/>
                          <a:cs typeface="Sarabun" pitchFamily="34" charset="-120"/>
                        </a:rPr>
                        <a:t>Every exceedance count here is CAMS's count</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100" dirty="0">
                          <a:solidFill>
                            <a:srgbClr val="2C231C"/>
                          </a:solidFill>
                          <a:latin typeface="Sarabun" pitchFamily="34" charset="0"/>
                          <a:ea typeface="Sarabun" pitchFamily="34" charset="-122"/>
                          <a:cs typeface="Sarabun" pitchFamily="34" charset="-120"/>
                        </a:rPr>
                        <a:t>So the next checkpoint asks how far off CAMS is</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A"/>
        </a:solidFill>
      </p:bgPr>
    </p:bg>
    <p:spTree>
      <p:nvGrpSpPr>
        <p:cNvPr id="1" name=""/>
        <p:cNvGrpSpPr/>
        <p:nvPr/>
      </p:nvGrpSpPr>
      <p:grpSpPr>
        <a:xfrm>
          <a:off x="0" y="0"/>
          <a:ext cx="0" cy="0"/>
          <a:chOff x="0" y="0"/>
          <a:chExt cx="0" cy="0"/>
        </a:xfrm>
      </p:grpSpPr>
      <p:sp>
        <p:nvSpPr>
          <p:cNvPr id="2" name="Text 0"/>
          <p:cNvSpPr txBox="1"/>
          <p:nvPr/>
        </p:nvSpPr>
        <p:spPr>
          <a:xfrm>
            <a:off x="502920" y="274320"/>
            <a:ext cx="8138160" cy="201168"/>
          </a:xfrm>
          <a:prstGeom prst="rect">
            <a:avLst/>
          </a:prstGeom>
          <a:noFill/>
          <a:ln/>
        </p:spPr>
        <p:txBody>
          <a:bodyPr wrap="square" lIns="0" tIns="0" rIns="0" bIns="0" rtlCol="0" anchor="ctr"/>
          <a:lstStyle/>
          <a:p>
            <a:pPr indent="0" marL="0">
              <a:buNone/>
            </a:pPr>
            <a:r>
              <a:rPr lang="en-US" sz="1050" b="1" spc="160" kern="0" dirty="0">
                <a:solidFill>
                  <a:srgbClr val="BF5722"/>
                </a:solidFill>
                <a:latin typeface="Sarabun" pitchFamily="34" charset="0"/>
                <a:ea typeface="Sarabun" pitchFamily="34" charset="-122"/>
                <a:cs typeface="Sarabun" pitchFamily="34" charset="-120"/>
              </a:rPr>
              <a:t>DATA QUALITY  ·  CHECKPOINT C6</a:t>
            </a:r>
            <a:endParaRPr lang="en-US" sz="1050" dirty="0"/>
          </a:p>
        </p:txBody>
      </p:sp>
      <p:sp>
        <p:nvSpPr>
          <p:cNvPr id="3" name="Text 1"/>
          <p:cNvSpPr txBox="1"/>
          <p:nvPr/>
        </p:nvSpPr>
        <p:spPr>
          <a:xfrm>
            <a:off x="502920" y="493776"/>
            <a:ext cx="8138160" cy="512064"/>
          </a:xfrm>
          <a:prstGeom prst="rect">
            <a:avLst/>
          </a:prstGeom>
          <a:noFill/>
          <a:ln/>
        </p:spPr>
        <p:txBody>
          <a:bodyPr wrap="square" lIns="0" tIns="0" rIns="0" bIns="0" rtlCol="0" anchor="t"/>
          <a:lstStyle/>
          <a:p>
            <a:pPr indent="0" marL="0">
              <a:buNone/>
            </a:pPr>
            <a:r>
              <a:rPr lang="en-US" sz="2500" b="1" dirty="0">
                <a:solidFill>
                  <a:srgbClr val="2C231C"/>
                </a:solidFill>
                <a:latin typeface="Sarabun" pitchFamily="34" charset="0"/>
                <a:ea typeface="Sarabun" pitchFamily="34" charset="-122"/>
                <a:cs typeface="Sarabun" pitchFamily="34" charset="-120"/>
              </a:rPr>
              <a:t>So I measured how wrong it is</a:t>
            </a:r>
            <a:endParaRPr lang="en-US" sz="2500" dirty="0"/>
          </a:p>
        </p:txBody>
      </p:sp>
      <p:sp>
        <p:nvSpPr>
          <p:cNvPr id="4" name="Text 2"/>
          <p:cNvSpPr txBox="1"/>
          <p:nvPr/>
        </p:nvSpPr>
        <p:spPr>
          <a:xfrm>
            <a:off x="502920" y="1060704"/>
            <a:ext cx="8138160" cy="310896"/>
          </a:xfrm>
          <a:prstGeom prst="rect">
            <a:avLst/>
          </a:prstGeom>
          <a:noFill/>
          <a:ln/>
        </p:spPr>
        <p:txBody>
          <a:bodyPr wrap="square" lIns="0" tIns="0" rIns="0" bIns="0" rtlCol="0" anchor="t"/>
          <a:lstStyle/>
          <a:p>
            <a:pPr indent="0" marL="0">
              <a:buNone/>
            </a:pPr>
            <a:r>
              <a:rPr lang="en-US" sz="1350" b="1" dirty="0">
                <a:solidFill>
                  <a:srgbClr val="2C231C"/>
                </a:solidFill>
                <a:latin typeface="Sarabun" pitchFamily="34" charset="0"/>
                <a:ea typeface="Sarabun" pitchFamily="34" charset="-122"/>
                <a:cs typeface="Sarabun" pitchFamily="34" charset="-120"/>
              </a:rPr>
              <a:t>70 paired readings against real Air4Thai instruments. CAMS reads low at every single station.</a:t>
            </a:r>
            <a:endParaRPr lang="en-US" sz="1350" dirty="0"/>
          </a:p>
        </p:txBody>
      </p:sp>
      <p:sp>
        <p:nvSpPr>
          <p:cNvPr id="5" name="Text 3"/>
          <p:cNvSpPr txBox="1"/>
          <p:nvPr/>
        </p:nvSpPr>
        <p:spPr>
          <a:xfrm>
            <a:off x="502920" y="1517904"/>
            <a:ext cx="2286000" cy="603504"/>
          </a:xfrm>
          <a:prstGeom prst="rect">
            <a:avLst/>
          </a:prstGeom>
          <a:noFill/>
          <a:ln/>
        </p:spPr>
        <p:txBody>
          <a:bodyPr wrap="square" lIns="0" tIns="0" rIns="0" bIns="0" rtlCol="0" anchor="ctr"/>
          <a:lstStyle/>
          <a:p>
            <a:pPr algn="l" indent="0" marL="0">
              <a:buNone/>
            </a:pPr>
            <a:r>
              <a:rPr lang="en-US" sz="3200" b="1" dirty="0">
                <a:solidFill>
                  <a:srgbClr val="BF5722"/>
                </a:solidFill>
                <a:latin typeface="Sarabun" pitchFamily="34" charset="0"/>
                <a:ea typeface="Sarabun" pitchFamily="34" charset="-122"/>
                <a:cs typeface="Sarabun" pitchFamily="34" charset="-120"/>
              </a:rPr>
              <a:t>-5.38</a:t>
            </a:r>
            <a:endParaRPr lang="en-US" sz="3200" dirty="0"/>
          </a:p>
        </p:txBody>
      </p:sp>
      <p:sp>
        <p:nvSpPr>
          <p:cNvPr id="6" name="Text 4"/>
          <p:cNvSpPr txBox="1"/>
          <p:nvPr/>
        </p:nvSpPr>
        <p:spPr>
          <a:xfrm>
            <a:off x="502920" y="2048256"/>
            <a:ext cx="2286000" cy="548640"/>
          </a:xfrm>
          <a:prstGeom prst="rect">
            <a:avLst/>
          </a:prstGeom>
          <a:noFill/>
          <a:ln/>
        </p:spPr>
        <p:txBody>
          <a:bodyPr wrap="square" lIns="0" tIns="0" rIns="0" bIns="0" rtlCol="0" anchor="ctr"/>
          <a:lstStyle/>
          <a:p>
            <a:pPr algn="l" indent="0" marL="0">
              <a:buNone/>
            </a:pPr>
            <a:r>
              <a:rPr lang="en-US" sz="1150" dirty="0">
                <a:solidFill>
                  <a:srgbClr val="7C6B5B"/>
                </a:solidFill>
                <a:latin typeface="Sarabun" pitchFamily="34" charset="0"/>
                <a:ea typeface="Sarabun" pitchFamily="34" charset="-122"/>
                <a:cs typeface="Sarabun" pitchFamily="34" charset="-120"/>
              </a:rPr>
              <a:t>µg/m³ average gap,</a:t>
            </a:r>
            <a:endParaRPr lang="en-US" sz="1150" dirty="0"/>
          </a:p>
          <a:p>
            <a:pPr algn="l" indent="0" marL="0">
              <a:buNone/>
            </a:pPr>
            <a:r>
              <a:rPr lang="en-US" sz="1150" dirty="0">
                <a:solidFill>
                  <a:srgbClr val="7C6B5B"/>
                </a:solidFill>
                <a:latin typeface="Sarabun" pitchFamily="34" charset="0"/>
                <a:ea typeface="Sarabun" pitchFamily="34" charset="-122"/>
                <a:cs typeface="Sarabun" pitchFamily="34" charset="-120"/>
              </a:rPr>
              <a:t>CAMS minus instrument</a:t>
            </a:r>
            <a:endParaRPr lang="en-US" sz="1150" dirty="0"/>
          </a:p>
        </p:txBody>
      </p:sp>
      <p:sp>
        <p:nvSpPr>
          <p:cNvPr id="7" name="Text 5"/>
          <p:cNvSpPr txBox="1"/>
          <p:nvPr/>
        </p:nvSpPr>
        <p:spPr>
          <a:xfrm>
            <a:off x="3246120" y="1517904"/>
            <a:ext cx="2286000" cy="603504"/>
          </a:xfrm>
          <a:prstGeom prst="rect">
            <a:avLst/>
          </a:prstGeom>
          <a:noFill/>
          <a:ln/>
        </p:spPr>
        <p:txBody>
          <a:bodyPr wrap="square" lIns="0" tIns="0" rIns="0" bIns="0" rtlCol="0" anchor="ctr"/>
          <a:lstStyle/>
          <a:p>
            <a:pPr algn="l" indent="0" marL="0">
              <a:buNone/>
            </a:pPr>
            <a:r>
              <a:rPr lang="en-US" sz="3200" b="1" dirty="0">
                <a:solidFill>
                  <a:srgbClr val="8A6A2F"/>
                </a:solidFill>
                <a:latin typeface="Sarabun" pitchFamily="34" charset="0"/>
                <a:ea typeface="Sarabun" pitchFamily="34" charset="-122"/>
                <a:cs typeface="Sarabun" pitchFamily="34" charset="-120"/>
              </a:rPr>
              <a:t>14 / 14</a:t>
            </a:r>
            <a:endParaRPr lang="en-US" sz="3200" dirty="0"/>
          </a:p>
        </p:txBody>
      </p:sp>
      <p:sp>
        <p:nvSpPr>
          <p:cNvPr id="8" name="Text 6"/>
          <p:cNvSpPr txBox="1"/>
          <p:nvPr/>
        </p:nvSpPr>
        <p:spPr>
          <a:xfrm>
            <a:off x="3246120" y="2048256"/>
            <a:ext cx="2286000" cy="548640"/>
          </a:xfrm>
          <a:prstGeom prst="rect">
            <a:avLst/>
          </a:prstGeom>
          <a:noFill/>
          <a:ln/>
        </p:spPr>
        <p:txBody>
          <a:bodyPr wrap="square" lIns="0" tIns="0" rIns="0" bIns="0" rtlCol="0" anchor="ctr"/>
          <a:lstStyle/>
          <a:p>
            <a:pPr algn="l" indent="0" marL="0">
              <a:buNone/>
            </a:pPr>
            <a:r>
              <a:rPr lang="en-US" sz="1150" dirty="0">
                <a:solidFill>
                  <a:srgbClr val="7C6B5B"/>
                </a:solidFill>
                <a:latin typeface="Sarabun" pitchFamily="34" charset="0"/>
                <a:ea typeface="Sarabun" pitchFamily="34" charset="-122"/>
                <a:cs typeface="Sarabun" pitchFamily="34" charset="-120"/>
              </a:rPr>
              <a:t>stations where CAMS read</a:t>
            </a:r>
            <a:endParaRPr lang="en-US" sz="1150" dirty="0"/>
          </a:p>
          <a:p>
            <a:pPr algn="l" indent="0" marL="0">
              <a:buNone/>
            </a:pPr>
            <a:r>
              <a:rPr lang="en-US" sz="1150" dirty="0">
                <a:solidFill>
                  <a:srgbClr val="7C6B5B"/>
                </a:solidFill>
                <a:latin typeface="Sarabun" pitchFamily="34" charset="0"/>
                <a:ea typeface="Sarabun" pitchFamily="34" charset="-122"/>
                <a:cs typeface="Sarabun" pitchFamily="34" charset="-120"/>
              </a:rPr>
              <a:t>low, with no exception</a:t>
            </a:r>
            <a:endParaRPr lang="en-US" sz="1150" dirty="0"/>
          </a:p>
        </p:txBody>
      </p:sp>
      <p:sp>
        <p:nvSpPr>
          <p:cNvPr id="9" name="Text 7"/>
          <p:cNvSpPr txBox="1"/>
          <p:nvPr/>
        </p:nvSpPr>
        <p:spPr>
          <a:xfrm>
            <a:off x="6080760" y="1517904"/>
            <a:ext cx="2560320" cy="603504"/>
          </a:xfrm>
          <a:prstGeom prst="rect">
            <a:avLst/>
          </a:prstGeom>
          <a:noFill/>
          <a:ln/>
        </p:spPr>
        <p:txBody>
          <a:bodyPr wrap="square" lIns="0" tIns="0" rIns="0" bIns="0" rtlCol="0" anchor="ctr"/>
          <a:lstStyle/>
          <a:p>
            <a:pPr algn="l" indent="0" marL="0">
              <a:buNone/>
            </a:pPr>
            <a:r>
              <a:rPr lang="en-US" sz="3200" b="1" dirty="0">
                <a:solidFill>
                  <a:srgbClr val="8A6A2F"/>
                </a:solidFill>
                <a:latin typeface="Sarabun" pitchFamily="34" charset="0"/>
                <a:ea typeface="Sarabun" pitchFamily="34" charset="-122"/>
                <a:cs typeface="Sarabun" pitchFamily="34" charset="-120"/>
              </a:rPr>
              <a:t>70</a:t>
            </a:r>
            <a:endParaRPr lang="en-US" sz="3200" dirty="0"/>
          </a:p>
        </p:txBody>
      </p:sp>
      <p:sp>
        <p:nvSpPr>
          <p:cNvPr id="10" name="Text 8"/>
          <p:cNvSpPr txBox="1"/>
          <p:nvPr/>
        </p:nvSpPr>
        <p:spPr>
          <a:xfrm>
            <a:off x="6080760" y="2048256"/>
            <a:ext cx="2560320" cy="548640"/>
          </a:xfrm>
          <a:prstGeom prst="rect">
            <a:avLst/>
          </a:prstGeom>
          <a:noFill/>
          <a:ln/>
        </p:spPr>
        <p:txBody>
          <a:bodyPr wrap="square" lIns="0" tIns="0" rIns="0" bIns="0" rtlCol="0" anchor="ctr"/>
          <a:lstStyle/>
          <a:p>
            <a:pPr algn="l" indent="0" marL="0">
              <a:buNone/>
            </a:pPr>
            <a:r>
              <a:rPr lang="en-US" sz="1150" dirty="0">
                <a:solidFill>
                  <a:srgbClr val="7C6B5B"/>
                </a:solidFill>
                <a:latin typeface="Sarabun" pitchFamily="34" charset="0"/>
                <a:ea typeface="Sarabun" pitchFamily="34" charset="-122"/>
                <a:cs typeface="Sarabun" pitchFamily="34" charset="-120"/>
              </a:rPr>
              <a:t>paired readings, collected</a:t>
            </a:r>
            <a:endParaRPr lang="en-US" sz="1150" dirty="0"/>
          </a:p>
          <a:p>
            <a:pPr algn="l" indent="0" marL="0">
              <a:buNone/>
            </a:pPr>
            <a:r>
              <a:rPr lang="en-US" sz="1150" dirty="0">
                <a:solidFill>
                  <a:srgbClr val="7C6B5B"/>
                </a:solidFill>
                <a:latin typeface="Sarabun" pitchFamily="34" charset="0"/>
                <a:ea typeface="Sarabun" pitchFamily="34" charset="-122"/>
                <a:cs typeface="Sarabun" pitchFamily="34" charset="-120"/>
              </a:rPr>
              <a:t>over several runs</a:t>
            </a:r>
            <a:endParaRPr lang="en-US" sz="11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2834640"/>
          <a:ext cx="8138160" cy="914400"/>
        </p:xfrm>
        <a:graphic>
          <a:graphicData uri="http://schemas.openxmlformats.org/drawingml/2006/table">
            <a:tbl>
              <a:tblPr/>
              <a:tblGrid>
                <a:gridCol w="2468880"/>
                <a:gridCol w="5669280"/>
              </a:tblGrid>
              <a:tr h="548640">
                <a:tc>
                  <a:txBody>
                    <a:bodyPr/>
                    <a:lstStyle/>
                    <a:p>
                      <a:pPr algn="l" indent="0" marL="0">
                        <a:buNone/>
                      </a:pPr>
                      <a:r>
                        <a:rPr lang="en-US" sz="1100" b="1" dirty="0">
                          <a:solidFill>
                            <a:srgbClr val="2C231C"/>
                          </a:solidFill>
                          <a:latin typeface="Sarabun" pitchFamily="34" charset="0"/>
                          <a:ea typeface="Sarabun" pitchFamily="34" charset="-122"/>
                          <a:cs typeface="Sarabun" pitchFamily="34" charset="-120"/>
                        </a:rPr>
                        <a:t>What it means for my own numbers</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100" dirty="0">
                          <a:solidFill>
                            <a:srgbClr val="2C231C"/>
                          </a:solidFill>
                          <a:latin typeface="Sarabun" pitchFamily="34" charset="0"/>
                          <a:ea typeface="Sarabun" pitchFamily="34" charset="-122"/>
                          <a:cs typeface="Sarabun" pitchFamily="34" charset="-120"/>
                        </a:rPr>
                        <a:t>Days CAMS reports at 33 to 37 may really have gone over 37.5. My exceedance counts are more likely under-counts than over-counts</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r h="548640">
                <a:tc>
                  <a:txBody>
                    <a:bodyPr/>
                    <a:lstStyle/>
                    <a:p>
                      <a:pPr algn="l" indent="0" marL="0">
                        <a:buNone/>
                      </a:pPr>
                      <a:r>
                        <a:rPr lang="en-US" sz="1100" b="1" dirty="0">
                          <a:solidFill>
                            <a:srgbClr val="2C231C"/>
                          </a:solidFill>
                          <a:latin typeface="Sarabun" pitchFamily="34" charset="0"/>
                          <a:ea typeface="Sarabun" pitchFamily="34" charset="-122"/>
                          <a:cs typeface="Sarabun" pitchFamily="34" charset="-120"/>
                        </a:rPr>
                        <a:t>Limit I state myself, 1</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100" dirty="0">
                          <a:solidFill>
                            <a:srgbClr val="2C231C"/>
                          </a:solidFill>
                          <a:latin typeface="Sarabun" pitchFamily="34" charset="0"/>
                          <a:ea typeface="Sarabun" pitchFamily="34" charset="-122"/>
                          <a:cs typeface="Sarabun" pitchFamily="34" charset="-120"/>
                        </a:rPr>
                        <a:t>Measured at 6.9 to 18.4 µg/m³ in the rainy season. Whether the same gap holds up near 37.5 is not established</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r h="548640">
                <a:tc>
                  <a:txBody>
                    <a:bodyPr/>
                    <a:lstStyle/>
                    <a:p>
                      <a:pPr algn="l" indent="0" marL="0">
                        <a:buNone/>
                      </a:pPr>
                      <a:r>
                        <a:rPr lang="en-US" sz="1100" b="1" dirty="0">
                          <a:solidFill>
                            <a:srgbClr val="2C231C"/>
                          </a:solidFill>
                          <a:latin typeface="Sarabun" pitchFamily="34" charset="0"/>
                          <a:ea typeface="Sarabun" pitchFamily="34" charset="-122"/>
                          <a:cs typeface="Sarabun" pitchFamily="34" charset="-120"/>
                        </a:rPr>
                        <a:t>Limit I state myself, 2</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100" dirty="0">
                          <a:solidFill>
                            <a:srgbClr val="2C231C"/>
                          </a:solidFill>
                          <a:latin typeface="Sarabun" pitchFamily="34" charset="0"/>
                          <a:ea typeface="Sarabun" pitchFamily="34" charset="-122"/>
                          <a:cs typeface="Sarabun" pitchFamily="34" charset="-120"/>
                        </a:rPr>
                        <a:t>The gap is uneven, -0.7 in Chiang Mai city and -9.1 at Mae Moh, so the province ranking may partly be uneven model error</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A"/>
        </a:solidFill>
      </p:bgPr>
    </p:bg>
    <p:spTree>
      <p:nvGrpSpPr>
        <p:cNvPr id="1" name=""/>
        <p:cNvGrpSpPr/>
        <p:nvPr/>
      </p:nvGrpSpPr>
      <p:grpSpPr>
        <a:xfrm>
          <a:off x="0" y="0"/>
          <a:ext cx="0" cy="0"/>
          <a:chOff x="0" y="0"/>
          <a:chExt cx="0" cy="0"/>
        </a:xfrm>
      </p:grpSpPr>
      <p:sp>
        <p:nvSpPr>
          <p:cNvPr id="2" name="Text 0"/>
          <p:cNvSpPr txBox="1"/>
          <p:nvPr/>
        </p:nvSpPr>
        <p:spPr>
          <a:xfrm>
            <a:off x="502920" y="274320"/>
            <a:ext cx="8138160" cy="201168"/>
          </a:xfrm>
          <a:prstGeom prst="rect">
            <a:avLst/>
          </a:prstGeom>
          <a:noFill/>
          <a:ln/>
        </p:spPr>
        <p:txBody>
          <a:bodyPr wrap="square" lIns="0" tIns="0" rIns="0" bIns="0" rtlCol="0" anchor="ctr"/>
          <a:lstStyle/>
          <a:p>
            <a:pPr indent="0" marL="0">
              <a:buNone/>
            </a:pPr>
            <a:r>
              <a:rPr lang="en-US" sz="1050" b="1" spc="160" kern="0" dirty="0">
                <a:solidFill>
                  <a:srgbClr val="BF5722"/>
                </a:solidFill>
                <a:latin typeface="Sarabun" pitchFamily="34" charset="0"/>
                <a:ea typeface="Sarabun" pitchFamily="34" charset="-122"/>
                <a:cs typeface="Sarabun" pitchFamily="34" charset="-120"/>
              </a:rPr>
              <a:t>DATA QUALITY  ·  CHECKPOINT C4</a:t>
            </a:r>
            <a:endParaRPr lang="en-US" sz="1050" dirty="0"/>
          </a:p>
        </p:txBody>
      </p:sp>
      <p:sp>
        <p:nvSpPr>
          <p:cNvPr id="3" name="Text 1"/>
          <p:cNvSpPr txBox="1"/>
          <p:nvPr/>
        </p:nvSpPr>
        <p:spPr>
          <a:xfrm>
            <a:off x="502920" y="493776"/>
            <a:ext cx="8138160" cy="512064"/>
          </a:xfrm>
          <a:prstGeom prst="rect">
            <a:avLst/>
          </a:prstGeom>
          <a:noFill/>
          <a:ln/>
        </p:spPr>
        <p:txBody>
          <a:bodyPr wrap="square" lIns="0" tIns="0" rIns="0" bIns="0" rtlCol="0" anchor="t"/>
          <a:lstStyle/>
          <a:p>
            <a:pPr indent="0" marL="0">
              <a:buNone/>
            </a:pPr>
            <a:r>
              <a:rPr lang="en-US" sz="2500" b="1" dirty="0">
                <a:solidFill>
                  <a:srgbClr val="2C231C"/>
                </a:solidFill>
                <a:latin typeface="Sarabun" pitchFamily="34" charset="0"/>
                <a:ea typeface="Sarabun" pitchFamily="34" charset="-122"/>
                <a:cs typeface="Sarabun" pitchFamily="34" charset="-120"/>
              </a:rPr>
              <a:t>The check that passed, and should not have</a:t>
            </a:r>
            <a:endParaRPr lang="en-US" sz="2500" dirty="0"/>
          </a:p>
        </p:txBody>
      </p:sp>
      <p:sp>
        <p:nvSpPr>
          <p:cNvPr id="4" name="Shape 2"/>
          <p:cNvSpPr/>
          <p:nvPr/>
        </p:nvSpPr>
        <p:spPr>
          <a:xfrm>
            <a:off x="502920" y="1078992"/>
            <a:ext cx="8138160" cy="1188720"/>
          </a:xfrm>
          <a:prstGeom prst="roundRect">
            <a:avLst>
              <a:gd name="adj" fmla="val 6154"/>
            </a:avLst>
          </a:prstGeom>
          <a:solidFill>
            <a:srgbClr val="2A2018"/>
          </a:solidFill>
          <a:ln w="12700">
            <a:solidFill>
              <a:srgbClr val="2A2018"/>
            </a:solidFill>
            <a:prstDash val="solid"/>
          </a:ln>
        </p:spPr>
      </p:sp>
      <p:sp>
        <p:nvSpPr>
          <p:cNvPr id="5" name="Text 3"/>
          <p:cNvSpPr txBox="1"/>
          <p:nvPr/>
        </p:nvSpPr>
        <p:spPr>
          <a:xfrm>
            <a:off x="777240" y="1207008"/>
            <a:ext cx="7589520" cy="329184"/>
          </a:xfrm>
          <a:prstGeom prst="rect">
            <a:avLst/>
          </a:prstGeom>
          <a:noFill/>
          <a:ln/>
        </p:spPr>
        <p:txBody>
          <a:bodyPr wrap="square" lIns="0" tIns="0" rIns="0" bIns="0" rtlCol="0" anchor="ctr"/>
          <a:lstStyle/>
          <a:p>
            <a:pPr indent="0" marL="0">
              <a:buNone/>
            </a:pPr>
            <a:r>
              <a:rPr lang="en-US" sz="1550" b="1" dirty="0">
                <a:solidFill>
                  <a:srgbClr val="FFFDFA"/>
                </a:solidFill>
                <a:latin typeface="Sarabun" pitchFamily="34" charset="0"/>
                <a:ea typeface="Sarabun" pitchFamily="34" charset="-122"/>
                <a:cs typeface="Sarabun" pitchFamily="34" charset="-120"/>
              </a:rPr>
              <a:t>Two points 12 km apart inside Chiang Mai returned exactly the same numbers for all 168 hours</a:t>
            </a:r>
            <a:endParaRPr lang="en-US" sz="1550" dirty="0"/>
          </a:p>
        </p:txBody>
      </p:sp>
      <p:sp>
        <p:nvSpPr>
          <p:cNvPr id="6" name="Text 4"/>
          <p:cNvSpPr txBox="1"/>
          <p:nvPr/>
        </p:nvSpPr>
        <p:spPr>
          <a:xfrm>
            <a:off x="777240" y="1591056"/>
            <a:ext cx="4846320" cy="530352"/>
          </a:xfrm>
          <a:prstGeom prst="rect">
            <a:avLst/>
          </a:prstGeom>
          <a:noFill/>
          <a:ln/>
        </p:spPr>
        <p:txBody>
          <a:bodyPr wrap="square" lIns="0" tIns="0" rIns="0" bIns="0" rtlCol="0" anchor="ctr"/>
          <a:lstStyle/>
          <a:p>
            <a:pPr indent="0" marL="0">
              <a:buNone/>
            </a:pPr>
            <a:r>
              <a:rPr lang="en-US" sz="1000" dirty="0">
                <a:solidFill>
                  <a:srgbClr val="F0E5D6"/>
                </a:solidFill>
                <a:latin typeface="Courier New" pitchFamily="34" charset="0"/>
                <a:ea typeface="Courier New" pitchFamily="34" charset="-122"/>
                <a:cs typeface="Courier New" pitchFamily="34" charset="-120"/>
              </a:rPr>
              <a:t>Mueang       18.7883, 98.9853   →   grid 18.800 / 99.000</a:t>
            </a:r>
            <a:endParaRPr lang="en-US" sz="1000" dirty="0"/>
          </a:p>
          <a:p>
            <a:pPr indent="0" marL="0">
              <a:buNone/>
            </a:pPr>
            <a:r>
              <a:rPr lang="en-US" sz="1000" dirty="0">
                <a:solidFill>
                  <a:srgbClr val="F0E5D6"/>
                </a:solidFill>
                <a:latin typeface="Courier New" pitchFamily="34" charset="0"/>
                <a:ea typeface="Courier New" pitchFamily="34" charset="-122"/>
                <a:cs typeface="Courier New" pitchFamily="34" charset="-120"/>
              </a:rPr>
              <a:t>Hang Dong    18.6883, 98.9214   →   grid 18.700 / 98.900</a:t>
            </a:r>
            <a:endParaRPr lang="en-US" sz="1000" dirty="0"/>
          </a:p>
        </p:txBody>
      </p:sp>
      <p:sp>
        <p:nvSpPr>
          <p:cNvPr id="7" name="Text 5"/>
          <p:cNvSpPr txBox="1"/>
          <p:nvPr/>
        </p:nvSpPr>
        <p:spPr>
          <a:xfrm>
            <a:off x="5897880" y="1609344"/>
            <a:ext cx="2560320" cy="512064"/>
          </a:xfrm>
          <a:prstGeom prst="rect">
            <a:avLst/>
          </a:prstGeom>
          <a:noFill/>
          <a:ln/>
        </p:spPr>
        <p:txBody>
          <a:bodyPr wrap="square" lIns="0" tIns="0" rIns="0" bIns="0" rtlCol="0" anchor="ctr"/>
          <a:lstStyle/>
          <a:p>
            <a:pPr indent="0" marL="0">
              <a:buNone/>
            </a:pPr>
            <a:r>
              <a:rPr lang="en-US" sz="1150" b="1" dirty="0">
                <a:solidFill>
                  <a:srgbClr val="E9A56B"/>
                </a:solidFill>
                <a:latin typeface="Sarabun" pitchFamily="34" charset="0"/>
                <a:ea typeface="Sarabun" pitchFamily="34" charset="-122"/>
                <a:cs typeface="Sarabun" pitchFamily="34" charset="-120"/>
              </a:rPr>
              <a:t>largest difference over</a:t>
            </a:r>
            <a:endParaRPr lang="en-US" sz="1150" dirty="0"/>
          </a:p>
          <a:p>
            <a:pPr indent="0" marL="0">
              <a:buNone/>
            </a:pPr>
            <a:r>
              <a:rPr lang="en-US" sz="1150" b="1" dirty="0">
                <a:solidFill>
                  <a:srgbClr val="E9A56B"/>
                </a:solidFill>
                <a:latin typeface="Sarabun" pitchFamily="34" charset="0"/>
                <a:ea typeface="Sarabun" pitchFamily="34" charset="-122"/>
                <a:cs typeface="Sarabun" pitchFamily="34" charset="-120"/>
              </a:rPr>
              <a:t>the week:   0.0 µg/m³</a:t>
            </a:r>
            <a:endParaRPr lang="en-US" sz="11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2432304"/>
          <a:ext cx="8138160" cy="914400"/>
        </p:xfrm>
        <a:graphic>
          <a:graphicData uri="http://schemas.openxmlformats.org/drawingml/2006/table">
            <a:tbl>
              <a:tblPr/>
              <a:tblGrid>
                <a:gridCol w="2194560"/>
                <a:gridCol w="5943600"/>
              </a:tblGrid>
              <a:tr h="530352">
                <a:tc>
                  <a:txBody>
                    <a:bodyPr/>
                    <a:lstStyle/>
                    <a:p>
                      <a:pPr algn="l" indent="0" marL="0">
                        <a:buNone/>
                      </a:pPr>
                      <a:r>
                        <a:rPr lang="en-US" sz="1100" b="1" dirty="0">
                          <a:solidFill>
                            <a:srgbClr val="2C231C"/>
                          </a:solidFill>
                          <a:latin typeface="Sarabun" pitchFamily="34" charset="0"/>
                          <a:ea typeface="Sarabun" pitchFamily="34" charset="-122"/>
                          <a:cs typeface="Sarabun" pitchFamily="34" charset="-120"/>
                        </a:rPr>
                        <a:t>My first version passed</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100" dirty="0">
                          <a:solidFill>
                            <a:srgbClr val="2C231C"/>
                          </a:solidFill>
                          <a:latin typeface="Sarabun" pitchFamily="34" charset="0"/>
                          <a:ea typeface="Sarabun" pitchFamily="34" charset="-122"/>
                          <a:cs typeface="Sarabun" pitchFamily="34" charset="-120"/>
                        </a:rPr>
                        <a:t>It compared the coordinates the API reported. Six requests, six different coordinates, so it said PASS</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r h="530352">
                <a:tc>
                  <a:txBody>
                    <a:bodyPr/>
                    <a:lstStyle/>
                    <a:p>
                      <a:pPr algn="l" indent="0" marL="0">
                        <a:buNone/>
                      </a:pPr>
                      <a:r>
                        <a:rPr lang="en-US" sz="1100" b="1" dirty="0">
                          <a:solidFill>
                            <a:srgbClr val="2C231C"/>
                          </a:solidFill>
                          <a:latin typeface="Sarabun" pitchFamily="34" charset="0"/>
                          <a:ea typeface="Sarabun" pitchFamily="34" charset="-122"/>
                          <a:cs typeface="Sarabun" pitchFamily="34" charset="-120"/>
                        </a:rPr>
                        <a:t>What actually causes it</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100" dirty="0">
                          <a:solidFill>
                            <a:srgbClr val="2C231C"/>
                          </a:solidFill>
                          <a:latin typeface="Sarabun" pitchFamily="34" charset="0"/>
                          <a:ea typeface="Sarabun" pitchFamily="34" charset="-122"/>
                          <a:cs typeface="Sarabun" pitchFamily="34" charset="-120"/>
                        </a:rPr>
                        <a:t>CAMS resolves about 45 km, so two nearby requests are read from the same square. The reported coordinate is cosmetic</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r h="530352">
                <a:tc>
                  <a:txBody>
                    <a:bodyPr/>
                    <a:lstStyle/>
                    <a:p>
                      <a:pPr algn="l" indent="0" marL="0">
                        <a:buNone/>
                      </a:pPr>
                      <a:r>
                        <a:rPr lang="en-US" sz="1100" b="1" dirty="0">
                          <a:solidFill>
                            <a:srgbClr val="2C231C"/>
                          </a:solidFill>
                          <a:latin typeface="Sarabun" pitchFamily="34" charset="0"/>
                          <a:ea typeface="Sarabun" pitchFamily="34" charset="-122"/>
                          <a:cs typeface="Sarabun" pitchFamily="34" charset="-120"/>
                        </a:rPr>
                        <a:t>How widespread</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100" dirty="0">
                          <a:solidFill>
                            <a:srgbClr val="2C231C"/>
                          </a:solidFill>
                          <a:latin typeface="Sarabun" pitchFamily="34" charset="0"/>
                          <a:ea typeface="Sarabun" pitchFamily="34" charset="-122"/>
                          <a:cs typeface="Sarabun" pitchFamily="34" charset="-120"/>
                        </a:rPr>
                        <a:t>1 of 15 pairs inside the province identical, 14 different. Only comparing the values finds it</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r h="530352">
                <a:tc>
                  <a:txBody>
                    <a:bodyPr/>
                    <a:lstStyle/>
                    <a:p>
                      <a:pPr algn="l" indent="0" marL="0">
                        <a:buNone/>
                      </a:pPr>
                      <a:r>
                        <a:rPr lang="en-US" sz="1100" b="1" dirty="0">
                          <a:solidFill>
                            <a:srgbClr val="2C231C"/>
                          </a:solidFill>
                          <a:latin typeface="Sarabun" pitchFamily="34" charset="0"/>
                          <a:ea typeface="Sarabun" pitchFamily="34" charset="-122"/>
                          <a:cs typeface="Sarabun" pitchFamily="34" charset="-120"/>
                        </a:rPr>
                        <a:t>What I did about it</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100" dirty="0">
                          <a:solidFill>
                            <a:srgbClr val="2C231C"/>
                          </a:solidFill>
                          <a:latin typeface="Sarabun" pitchFamily="34" charset="0"/>
                          <a:ea typeface="Sarabun" pitchFamily="34" charset="-122"/>
                          <a:cs typeface="Sarabun" pitchFamily="34" charset="-120"/>
                        </a:rPr>
                        <a:t>Dropped district-level analysis. Compare the four provincial capitals, checked to be genuinely different</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A"/>
        </a:solidFill>
      </p:bgPr>
    </p:bg>
    <p:spTree>
      <p:nvGrpSpPr>
        <p:cNvPr id="1" name=""/>
        <p:cNvGrpSpPr/>
        <p:nvPr/>
      </p:nvGrpSpPr>
      <p:grpSpPr>
        <a:xfrm>
          <a:off x="0" y="0"/>
          <a:ext cx="0" cy="0"/>
          <a:chOff x="0" y="0"/>
          <a:chExt cx="0" cy="0"/>
        </a:xfrm>
      </p:grpSpPr>
      <p:sp>
        <p:nvSpPr>
          <p:cNvPr id="2" name="Text 0"/>
          <p:cNvSpPr txBox="1"/>
          <p:nvPr/>
        </p:nvSpPr>
        <p:spPr>
          <a:xfrm>
            <a:off x="502920" y="274320"/>
            <a:ext cx="8138160" cy="201168"/>
          </a:xfrm>
          <a:prstGeom prst="rect">
            <a:avLst/>
          </a:prstGeom>
          <a:noFill/>
          <a:ln/>
        </p:spPr>
        <p:txBody>
          <a:bodyPr wrap="square" lIns="0" tIns="0" rIns="0" bIns="0" rtlCol="0" anchor="ctr"/>
          <a:lstStyle/>
          <a:p>
            <a:pPr indent="0" marL="0">
              <a:buNone/>
            </a:pPr>
            <a:r>
              <a:rPr lang="en-US" sz="1050" b="1" spc="160" kern="0" dirty="0">
                <a:solidFill>
                  <a:srgbClr val="BF5722"/>
                </a:solidFill>
                <a:latin typeface="Sarabun" pitchFamily="34" charset="0"/>
                <a:ea typeface="Sarabun" pitchFamily="34" charset="-122"/>
                <a:cs typeface="Sarabun" pitchFamily="34" charset="-120"/>
              </a:rPr>
              <a:t>MACHINE LEARNING  ·  1 OF 3</a:t>
            </a:r>
            <a:endParaRPr lang="en-US" sz="1050" dirty="0"/>
          </a:p>
        </p:txBody>
      </p:sp>
      <p:sp>
        <p:nvSpPr>
          <p:cNvPr id="3" name="Text 1"/>
          <p:cNvSpPr txBox="1"/>
          <p:nvPr/>
        </p:nvSpPr>
        <p:spPr>
          <a:xfrm>
            <a:off x="502920" y="493776"/>
            <a:ext cx="8138160" cy="512064"/>
          </a:xfrm>
          <a:prstGeom prst="rect">
            <a:avLst/>
          </a:prstGeom>
          <a:noFill/>
          <a:ln/>
        </p:spPr>
        <p:txBody>
          <a:bodyPr wrap="square" lIns="0" tIns="0" rIns="0" bIns="0" rtlCol="0" anchor="t"/>
          <a:lstStyle/>
          <a:p>
            <a:pPr indent="0" marL="0">
              <a:buNone/>
            </a:pPr>
            <a:r>
              <a:rPr lang="en-US" sz="2500" b="1" dirty="0">
                <a:solidFill>
                  <a:srgbClr val="2C231C"/>
                </a:solidFill>
                <a:latin typeface="Sarabun" pitchFamily="34" charset="0"/>
                <a:ea typeface="Sarabun" pitchFamily="34" charset="-122"/>
                <a:cs typeface="Sarabun" pitchFamily="34" charset="-120"/>
              </a:rPr>
              <a:t>Why build a model at all?</a:t>
            </a:r>
            <a:endParaRPr lang="en-US" sz="2500" dirty="0"/>
          </a:p>
        </p:txBody>
      </p:sp>
      <p:sp>
        <p:nvSpPr>
          <p:cNvPr id="4" name="Text 2"/>
          <p:cNvSpPr txBox="1"/>
          <p:nvPr/>
        </p:nvSpPr>
        <p:spPr>
          <a:xfrm>
            <a:off x="502920" y="1060704"/>
            <a:ext cx="8138160" cy="310896"/>
          </a:xfrm>
          <a:prstGeom prst="rect">
            <a:avLst/>
          </a:prstGeom>
          <a:noFill/>
          <a:ln/>
        </p:spPr>
        <p:txBody>
          <a:bodyPr wrap="square" lIns="0" tIns="0" rIns="0" bIns="0" rtlCol="0" anchor="t"/>
          <a:lstStyle/>
          <a:p>
            <a:pPr indent="0" marL="0">
              <a:buNone/>
            </a:pPr>
            <a:r>
              <a:rPr lang="en-US" sz="1350" b="1" dirty="0">
                <a:solidFill>
                  <a:srgbClr val="2C231C"/>
                </a:solidFill>
                <a:latin typeface="Sarabun" pitchFamily="34" charset="0"/>
                <a:ea typeface="Sarabun" pitchFamily="34" charset="-122"/>
                <a:cs typeface="Sarabun" pitchFamily="34" charset="-120"/>
              </a:rPr>
              <a:t>Yesterday alone already explains about 80% of today. So a model has to earn its place somewhere specific.</a:t>
            </a:r>
            <a:endParaRPr lang="en-US" sz="1350" dirty="0"/>
          </a:p>
        </p:txBody>
      </p:sp>
      <p:pic>
        <p:nvPicPr>
          <p:cNvPr id="5" name="Image 0" descr="/mnt/attach/outputs/pm25/outputs/figures/fig06_persistence_limits.png">    </p:cNvPr>
          <p:cNvPicPr>
            <a:picLocks noChangeAspect="1"/>
          </p:cNvPicPr>
          <p:nvPr/>
        </p:nvPicPr>
        <p:blipFill>
          <a:blip r:embed="rId1"/>
          <a:stretch>
            <a:fillRect/>
          </a:stretch>
        </p:blipFill>
        <p:spPr>
          <a:xfrm>
            <a:off x="1667536" y="1444752"/>
            <a:ext cx="5808928" cy="2286000"/>
          </a:xfrm>
          <a:prstGeom prst="rect">
            <a:avLst/>
          </a:prstGeom>
        </p:spPr>
      </p:pic>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3840480"/>
          <a:ext cx="8138160" cy="914400"/>
        </p:xfrm>
        <a:graphic>
          <a:graphicData uri="http://schemas.openxmlformats.org/drawingml/2006/table">
            <a:tbl>
              <a:tblPr/>
              <a:tblGrid>
                <a:gridCol w="4114800"/>
                <a:gridCol w="1463040"/>
                <a:gridCol w="2560320"/>
              </a:tblGrid>
              <a:tr h="310896">
                <a:tc>
                  <a:txBody>
                    <a:bodyPr/>
                    <a:lstStyle/>
                    <a:p>
                      <a:pPr algn="l" indent="0" marL="0">
                        <a:buNone/>
                      </a:pPr>
                      <a:r>
                        <a:rPr lang="en-US" sz="1100" b="1" dirty="0">
                          <a:solidFill>
                            <a:srgbClr val="7C6B5B"/>
                          </a:solidFill>
                          <a:latin typeface="Sarabun" pitchFamily="34" charset="0"/>
                          <a:ea typeface="Sarabun" pitchFamily="34" charset="-122"/>
                          <a:cs typeface="Sarabun" pitchFamily="34" charset="-120"/>
                        </a:rPr>
                        <a:t>What kind of day</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5EDE1"/>
                    </a:solidFill>
                  </a:tcPr>
                </a:tc>
                <a:tc>
                  <a:txBody>
                    <a:bodyPr/>
                    <a:lstStyle/>
                    <a:p>
                      <a:pPr algn="l" indent="0" marL="0">
                        <a:buNone/>
                      </a:pPr>
                      <a:r>
                        <a:rPr lang="en-US" sz="1100" b="1" dirty="0">
                          <a:solidFill>
                            <a:srgbClr val="7C6B5B"/>
                          </a:solidFill>
                          <a:latin typeface="Sarabun" pitchFamily="34" charset="0"/>
                          <a:ea typeface="Sarabun" pitchFamily="34" charset="-122"/>
                          <a:cs typeface="Sarabun" pitchFamily="34" charset="-120"/>
                        </a:rPr>
                        <a:t>Share of days</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5EDE1"/>
                    </a:solidFill>
                  </a:tcPr>
                </a:tc>
                <a:tc>
                  <a:txBody>
                    <a:bodyPr/>
                    <a:lstStyle/>
                    <a:p>
                      <a:pPr algn="l" indent="0" marL="0">
                        <a:buNone/>
                      </a:pPr>
                      <a:r>
                        <a:rPr lang="en-US" sz="1100" b="1" dirty="0">
                          <a:solidFill>
                            <a:srgbClr val="7C6B5B"/>
                          </a:solidFill>
                          <a:latin typeface="Sarabun" pitchFamily="34" charset="0"/>
                          <a:ea typeface="Sarabun" pitchFamily="34" charset="-122"/>
                          <a:cs typeface="Sarabun" pitchFamily="34" charset="-120"/>
                        </a:rPr>
                        <a:t>How far off "tomorrow = today" is</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5EDE1"/>
                    </a:solidFill>
                  </a:tcPr>
                </a:tc>
              </a:tr>
              <a:tr h="310896">
                <a:tc>
                  <a:txBody>
                    <a:bodyPr/>
                    <a:lstStyle/>
                    <a:p>
                      <a:pPr algn="l" indent="0" marL="0">
                        <a:buNone/>
                      </a:pPr>
                      <a:r>
                        <a:rPr lang="en-US" sz="1100" b="1" dirty="0">
                          <a:solidFill>
                            <a:srgbClr val="2C231C"/>
                          </a:solidFill>
                          <a:latin typeface="Sarabun" pitchFamily="34" charset="0"/>
                          <a:ea typeface="Sarabun" pitchFamily="34" charset="-122"/>
                          <a:cs typeface="Sarabun" pitchFamily="34" charset="-120"/>
                        </a:rPr>
                        <a:t>Days the air stays on the same side of 37.5</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100" dirty="0">
                          <a:solidFill>
                            <a:srgbClr val="2C231C"/>
                          </a:solidFill>
                          <a:latin typeface="Sarabun" pitchFamily="34" charset="0"/>
                          <a:ea typeface="Sarabun" pitchFamily="34" charset="-122"/>
                          <a:cs typeface="Sarabun" pitchFamily="34" charset="-120"/>
                        </a:rPr>
                        <a:t>94.5%</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100" dirty="0">
                          <a:solidFill>
                            <a:srgbClr val="2C231C"/>
                          </a:solidFill>
                          <a:latin typeface="Sarabun" pitchFamily="34" charset="0"/>
                          <a:ea typeface="Sarabun" pitchFamily="34" charset="-122"/>
                          <a:cs typeface="Sarabun" pitchFamily="34" charset="-120"/>
                        </a:rPr>
                        <a:t>3.59 µg/m³</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r h="310896">
                <a:tc>
                  <a:txBody>
                    <a:bodyPr/>
                    <a:lstStyle/>
                    <a:p>
                      <a:pPr algn="l" indent="0" marL="0">
                        <a:buNone/>
                      </a:pPr>
                      <a:r>
                        <a:rPr lang="en-US" sz="1100" b="1" dirty="0">
                          <a:solidFill>
                            <a:srgbClr val="BF5722"/>
                          </a:solidFill>
                          <a:latin typeface="Sarabun" pitchFamily="34" charset="0"/>
                          <a:ea typeface="Sarabun" pitchFamily="34" charset="-122"/>
                          <a:cs typeface="Sarabun" pitchFamily="34" charset="-120"/>
                        </a:rPr>
                        <a:t>Days the air crosses 37.5</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100" dirty="0">
                          <a:solidFill>
                            <a:srgbClr val="BF5722"/>
                          </a:solidFill>
                          <a:latin typeface="Sarabun" pitchFamily="34" charset="0"/>
                          <a:ea typeface="Sarabun" pitchFamily="34" charset="-122"/>
                          <a:cs typeface="Sarabun" pitchFamily="34" charset="-120"/>
                        </a:rPr>
                        <a:t>5.5%</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100" dirty="0">
                          <a:solidFill>
                            <a:srgbClr val="BF5722"/>
                          </a:solidFill>
                          <a:latin typeface="Sarabun" pitchFamily="34" charset="0"/>
                          <a:ea typeface="Sarabun" pitchFamily="34" charset="-122"/>
                          <a:cs typeface="Sarabun" pitchFamily="34" charset="-120"/>
                        </a:rPr>
                        <a:t>10.60 µg/m³, three times worse</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A"/>
        </a:solidFill>
      </p:bgPr>
    </p:bg>
    <p:spTree>
      <p:nvGrpSpPr>
        <p:cNvPr id="1" name=""/>
        <p:cNvGrpSpPr/>
        <p:nvPr/>
      </p:nvGrpSpPr>
      <p:grpSpPr>
        <a:xfrm>
          <a:off x="0" y="0"/>
          <a:ext cx="0" cy="0"/>
          <a:chOff x="0" y="0"/>
          <a:chExt cx="0" cy="0"/>
        </a:xfrm>
      </p:grpSpPr>
      <p:sp>
        <p:nvSpPr>
          <p:cNvPr id="2" name="Text 0"/>
          <p:cNvSpPr txBox="1"/>
          <p:nvPr/>
        </p:nvSpPr>
        <p:spPr>
          <a:xfrm>
            <a:off x="502920" y="274320"/>
            <a:ext cx="8138160" cy="201168"/>
          </a:xfrm>
          <a:prstGeom prst="rect">
            <a:avLst/>
          </a:prstGeom>
          <a:noFill/>
          <a:ln/>
        </p:spPr>
        <p:txBody>
          <a:bodyPr wrap="square" lIns="0" tIns="0" rIns="0" bIns="0" rtlCol="0" anchor="ctr"/>
          <a:lstStyle/>
          <a:p>
            <a:pPr indent="0" marL="0">
              <a:buNone/>
            </a:pPr>
            <a:r>
              <a:rPr lang="en-US" sz="1050" b="1" spc="160" kern="0" dirty="0">
                <a:solidFill>
                  <a:srgbClr val="BF5722"/>
                </a:solidFill>
                <a:latin typeface="Sarabun" pitchFamily="34" charset="0"/>
                <a:ea typeface="Sarabun" pitchFamily="34" charset="-122"/>
                <a:cs typeface="Sarabun" pitchFamily="34" charset="-120"/>
              </a:rPr>
              <a:t>MACHINE LEARNING  ·  2 OF 3</a:t>
            </a:r>
            <a:endParaRPr lang="en-US" sz="1050" dirty="0"/>
          </a:p>
        </p:txBody>
      </p:sp>
      <p:sp>
        <p:nvSpPr>
          <p:cNvPr id="3" name="Text 1"/>
          <p:cNvSpPr txBox="1"/>
          <p:nvPr/>
        </p:nvSpPr>
        <p:spPr>
          <a:xfrm>
            <a:off x="502920" y="493776"/>
            <a:ext cx="8138160" cy="512064"/>
          </a:xfrm>
          <a:prstGeom prst="rect">
            <a:avLst/>
          </a:prstGeom>
          <a:noFill/>
          <a:ln/>
        </p:spPr>
        <p:txBody>
          <a:bodyPr wrap="square" lIns="0" tIns="0" rIns="0" bIns="0" rtlCol="0" anchor="t"/>
          <a:lstStyle/>
          <a:p>
            <a:pPr indent="0" marL="0">
              <a:buNone/>
            </a:pPr>
            <a:r>
              <a:rPr lang="en-US" sz="2500" b="1" dirty="0">
                <a:solidFill>
                  <a:srgbClr val="2C231C"/>
                </a:solidFill>
                <a:latin typeface="Sarabun" pitchFamily="34" charset="0"/>
                <a:ea typeface="Sarabun" pitchFamily="34" charset="-122"/>
                <a:cs typeface="Sarabun" pitchFamily="34" charset="-120"/>
              </a:rPr>
              <a:t>My model loses on average, and that is the finding</a:t>
            </a:r>
            <a:endParaRPr lang="en-US" sz="2500" dirty="0"/>
          </a:p>
        </p:txBody>
      </p:sp>
      <p:sp>
        <p:nvSpPr>
          <p:cNvPr id="4" name="Text 2"/>
          <p:cNvSpPr txBox="1"/>
          <p:nvPr/>
        </p:nvSpPr>
        <p:spPr>
          <a:xfrm>
            <a:off x="502920" y="1060704"/>
            <a:ext cx="8138160" cy="310896"/>
          </a:xfrm>
          <a:prstGeom prst="rect">
            <a:avLst/>
          </a:prstGeom>
          <a:noFill/>
          <a:ln/>
        </p:spPr>
        <p:txBody>
          <a:bodyPr wrap="square" lIns="0" tIns="0" rIns="0" bIns="0" rtlCol="0" anchor="t"/>
          <a:lstStyle/>
          <a:p>
            <a:pPr indent="0" marL="0">
              <a:buNone/>
            </a:pPr>
            <a:r>
              <a:rPr lang="en-US" sz="1350" b="1" dirty="0">
                <a:solidFill>
                  <a:srgbClr val="2C231C"/>
                </a:solidFill>
                <a:latin typeface="Sarabun" pitchFamily="34" charset="0"/>
                <a:ea typeface="Sarabun" pitchFamily="34" charset="-122"/>
                <a:cs typeface="Sarabun" pitchFamily="34" charset="-120"/>
              </a:rPr>
              <a:t>The numbers are the average size of the miss, in µg/m³. Lower is better. Read the last column.</a:t>
            </a:r>
            <a:endParaRPr lang="en-US" sz="13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536192"/>
          <a:ext cx="8138160" cy="914400"/>
        </p:xfrm>
        <a:graphic>
          <a:graphicData uri="http://schemas.openxmlformats.org/drawingml/2006/table">
            <a:tbl>
              <a:tblPr/>
              <a:tblGrid>
                <a:gridCol w="3017520"/>
                <a:gridCol w="1554480"/>
                <a:gridCol w="1737360"/>
                <a:gridCol w="1828800"/>
              </a:tblGrid>
              <a:tr h="402336">
                <a:tc>
                  <a:txBody>
                    <a:bodyPr/>
                    <a:lstStyle/>
                    <a:p>
                      <a:pPr algn="l" indent="0" marL="0">
                        <a:buNone/>
                      </a:pPr>
                      <a:endParaRPr lang="en-US" sz="12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5EDE1"/>
                    </a:solidFill>
                  </a:tcPr>
                </a:tc>
                <a:tc>
                  <a:txBody>
                    <a:bodyPr/>
                    <a:lstStyle/>
                    <a:p>
                      <a:pPr algn="r" indent="0" marL="0">
                        <a:buNone/>
                      </a:pPr>
                      <a:r>
                        <a:rPr lang="en-US" sz="1250" b="1" dirty="0">
                          <a:solidFill>
                            <a:srgbClr val="7C6B5B"/>
                          </a:solidFill>
                          <a:latin typeface="Sarabun" pitchFamily="34" charset="0"/>
                          <a:ea typeface="Sarabun" pitchFamily="34" charset="-122"/>
                          <a:cs typeface="Sarabun" pitchFamily="34" charset="-120"/>
                        </a:rPr>
                        <a:t>Ordinary days</a:t>
                      </a:r>
                      <a:endParaRPr lang="en-US" sz="12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5EDE1"/>
                    </a:solidFill>
                  </a:tcPr>
                </a:tc>
                <a:tc>
                  <a:txBody>
                    <a:bodyPr/>
                    <a:lstStyle/>
                    <a:p>
                      <a:pPr algn="r" indent="0" marL="0">
                        <a:buNone/>
                      </a:pPr>
                      <a:r>
                        <a:rPr lang="en-US" sz="1250" b="1" dirty="0">
                          <a:solidFill>
                            <a:srgbClr val="7C6B5B"/>
                          </a:solidFill>
                          <a:latin typeface="Sarabun" pitchFamily="34" charset="0"/>
                          <a:ea typeface="Sarabun" pitchFamily="34" charset="-122"/>
                          <a:cs typeface="Sarabun" pitchFamily="34" charset="-120"/>
                        </a:rPr>
                        <a:t>Burning season</a:t>
                      </a:r>
                      <a:endParaRPr lang="en-US" sz="12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5EDE1"/>
                    </a:solidFill>
                  </a:tcPr>
                </a:tc>
                <a:tc>
                  <a:txBody>
                    <a:bodyPr/>
                    <a:lstStyle/>
                    <a:p>
                      <a:pPr algn="r" indent="0" marL="0">
                        <a:buNone/>
                      </a:pPr>
                      <a:r>
                        <a:rPr lang="en-US" sz="1250" b="1" dirty="0">
                          <a:solidFill>
                            <a:srgbClr val="7C6B5B"/>
                          </a:solidFill>
                          <a:latin typeface="Sarabun" pitchFamily="34" charset="0"/>
                          <a:ea typeface="Sarabun" pitchFamily="34" charset="-122"/>
                          <a:cs typeface="Sarabun" pitchFamily="34" charset="-120"/>
                        </a:rPr>
                        <a:t>Days the air changes</a:t>
                      </a:r>
                      <a:endParaRPr lang="en-US" sz="12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5EDE1"/>
                    </a:solidFill>
                  </a:tcPr>
                </a:tc>
              </a:tr>
              <a:tr h="402336">
                <a:tc>
                  <a:txBody>
                    <a:bodyPr/>
                    <a:lstStyle/>
                    <a:p>
                      <a:pPr algn="l" indent="0" marL="0">
                        <a:buNone/>
                      </a:pPr>
                      <a:r>
                        <a:rPr lang="en-US" sz="1250" b="1" dirty="0">
                          <a:solidFill>
                            <a:srgbClr val="2C231C"/>
                          </a:solidFill>
                          <a:latin typeface="Sarabun" pitchFamily="34" charset="0"/>
                          <a:ea typeface="Sarabun" pitchFamily="34" charset="-122"/>
                          <a:cs typeface="Sarabun" pitchFamily="34" charset="-120"/>
                        </a:rPr>
                        <a:t>Guessing "tomorrow = today"</a:t>
                      </a:r>
                      <a:endParaRPr lang="en-US" sz="12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r" indent="0" marL="0">
                        <a:buNone/>
                      </a:pPr>
                      <a:r>
                        <a:rPr lang="en-US" sz="1250" dirty="0">
                          <a:solidFill>
                            <a:srgbClr val="2C231C"/>
                          </a:solidFill>
                          <a:latin typeface="Sarabun" pitchFamily="34" charset="0"/>
                          <a:ea typeface="Sarabun" pitchFamily="34" charset="-122"/>
                          <a:cs typeface="Sarabun" pitchFamily="34" charset="-120"/>
                        </a:rPr>
                        <a:t>4.118</a:t>
                      </a:r>
                      <a:endParaRPr lang="en-US" sz="12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r" indent="0" marL="0">
                        <a:buNone/>
                      </a:pPr>
                      <a:r>
                        <a:rPr lang="en-US" sz="1250" dirty="0">
                          <a:solidFill>
                            <a:srgbClr val="2C231C"/>
                          </a:solidFill>
                          <a:latin typeface="Sarabun" pitchFamily="34" charset="0"/>
                          <a:ea typeface="Sarabun" pitchFamily="34" charset="-122"/>
                          <a:cs typeface="Sarabun" pitchFamily="34" charset="-120"/>
                        </a:rPr>
                        <a:t>6.846</a:t>
                      </a:r>
                      <a:endParaRPr lang="en-US" sz="12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r" indent="0" marL="0">
                        <a:buNone/>
                      </a:pPr>
                      <a:r>
                        <a:rPr lang="en-US" sz="1250" dirty="0">
                          <a:solidFill>
                            <a:srgbClr val="BF5722"/>
                          </a:solidFill>
                          <a:latin typeface="Sarabun" pitchFamily="34" charset="0"/>
                          <a:ea typeface="Sarabun" pitchFamily="34" charset="-122"/>
                          <a:cs typeface="Sarabun" pitchFamily="34" charset="-120"/>
                        </a:rPr>
                        <a:t>14.079</a:t>
                      </a:r>
                      <a:endParaRPr lang="en-US" sz="12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r h="402336">
                <a:tc>
                  <a:txBody>
                    <a:bodyPr/>
                    <a:lstStyle/>
                    <a:p>
                      <a:pPr algn="l" indent="0" marL="0">
                        <a:buNone/>
                      </a:pPr>
                      <a:r>
                        <a:rPr lang="en-US" sz="1250" b="1" dirty="0">
                          <a:solidFill>
                            <a:srgbClr val="2C231C"/>
                          </a:solidFill>
                          <a:latin typeface="Sarabun" pitchFamily="34" charset="0"/>
                          <a:ea typeface="Sarabun" pitchFamily="34" charset="-122"/>
                          <a:cs typeface="Sarabun" pitchFamily="34" charset="-120"/>
                        </a:rPr>
                        <a:t>Ridge regression</a:t>
                      </a:r>
                      <a:endParaRPr lang="en-US" sz="12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r" indent="0" marL="0">
                        <a:buNone/>
                      </a:pPr>
                      <a:r>
                        <a:rPr lang="en-US" sz="1250" dirty="0">
                          <a:solidFill>
                            <a:srgbClr val="2C231C"/>
                          </a:solidFill>
                          <a:latin typeface="Sarabun" pitchFamily="34" charset="0"/>
                          <a:ea typeface="Sarabun" pitchFamily="34" charset="-122"/>
                          <a:cs typeface="Sarabun" pitchFamily="34" charset="-120"/>
                        </a:rPr>
                        <a:t>4.303</a:t>
                      </a:r>
                      <a:endParaRPr lang="en-US" sz="12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r" indent="0" marL="0">
                        <a:buNone/>
                      </a:pPr>
                      <a:r>
                        <a:rPr lang="en-US" sz="1250" dirty="0">
                          <a:solidFill>
                            <a:srgbClr val="2C231C"/>
                          </a:solidFill>
                          <a:latin typeface="Sarabun" pitchFamily="34" charset="0"/>
                          <a:ea typeface="Sarabun" pitchFamily="34" charset="-122"/>
                          <a:cs typeface="Sarabun" pitchFamily="34" charset="-120"/>
                        </a:rPr>
                        <a:t>6.529</a:t>
                      </a:r>
                      <a:endParaRPr lang="en-US" sz="12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r" indent="0" marL="0">
                        <a:buNone/>
                      </a:pPr>
                      <a:r>
                        <a:rPr lang="en-US" sz="1250" dirty="0">
                          <a:solidFill>
                            <a:srgbClr val="BF5722"/>
                          </a:solidFill>
                          <a:latin typeface="Sarabun" pitchFamily="34" charset="0"/>
                          <a:ea typeface="Sarabun" pitchFamily="34" charset="-122"/>
                          <a:cs typeface="Sarabun" pitchFamily="34" charset="-120"/>
                        </a:rPr>
                        <a:t>11.791</a:t>
                      </a:r>
                      <a:endParaRPr lang="en-US" sz="12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r h="402336">
                <a:tc>
                  <a:txBody>
                    <a:bodyPr/>
                    <a:lstStyle/>
                    <a:p>
                      <a:pPr algn="l" indent="0" marL="0">
                        <a:buNone/>
                      </a:pPr>
                      <a:r>
                        <a:rPr lang="en-US" sz="1250" b="1" dirty="0">
                          <a:solidFill>
                            <a:srgbClr val="2C231C"/>
                          </a:solidFill>
                          <a:latin typeface="Sarabun" pitchFamily="34" charset="0"/>
                          <a:ea typeface="Sarabun" pitchFamily="34" charset="-122"/>
                          <a:cs typeface="Sarabun" pitchFamily="34" charset="-120"/>
                        </a:rPr>
                        <a:t>Gradient boosting</a:t>
                      </a:r>
                      <a:endParaRPr lang="en-US" sz="12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r" indent="0" marL="0">
                        <a:buNone/>
                      </a:pPr>
                      <a:r>
                        <a:rPr lang="en-US" sz="1250" dirty="0">
                          <a:solidFill>
                            <a:srgbClr val="2C231C"/>
                          </a:solidFill>
                          <a:latin typeface="Sarabun" pitchFamily="34" charset="0"/>
                          <a:ea typeface="Sarabun" pitchFamily="34" charset="-122"/>
                          <a:cs typeface="Sarabun" pitchFamily="34" charset="-120"/>
                        </a:rPr>
                        <a:t>3.946</a:t>
                      </a:r>
                      <a:endParaRPr lang="en-US" sz="12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r" indent="0" marL="0">
                        <a:buNone/>
                      </a:pPr>
                      <a:r>
                        <a:rPr lang="en-US" sz="1250" dirty="0">
                          <a:solidFill>
                            <a:srgbClr val="2C231C"/>
                          </a:solidFill>
                          <a:latin typeface="Sarabun" pitchFamily="34" charset="0"/>
                          <a:ea typeface="Sarabun" pitchFamily="34" charset="-122"/>
                          <a:cs typeface="Sarabun" pitchFamily="34" charset="-120"/>
                        </a:rPr>
                        <a:t>6.424</a:t>
                      </a:r>
                      <a:endParaRPr lang="en-US" sz="12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r" indent="0" marL="0">
                        <a:buNone/>
                      </a:pPr>
                      <a:r>
                        <a:rPr lang="en-US" sz="1250" dirty="0">
                          <a:solidFill>
                            <a:srgbClr val="BF5722"/>
                          </a:solidFill>
                          <a:latin typeface="Sarabun" pitchFamily="34" charset="0"/>
                          <a:ea typeface="Sarabun" pitchFamily="34" charset="-122"/>
                          <a:cs typeface="Sarabun" pitchFamily="34" charset="-120"/>
                        </a:rPr>
                        <a:t>12.098</a:t>
                      </a:r>
                      <a:endParaRPr lang="en-US" sz="12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bl>
          </a:graphicData>
        </a:graphic>
      </p:graphicFrame>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502920" y="3163824"/>
          <a:ext cx="8138160" cy="914400"/>
        </p:xfrm>
        <a:graphic>
          <a:graphicData uri="http://schemas.openxmlformats.org/drawingml/2006/table">
            <a:tbl>
              <a:tblPr/>
              <a:tblGrid>
                <a:gridCol w="3017520"/>
                <a:gridCol w="5120640"/>
              </a:tblGrid>
              <a:tr h="365760">
                <a:tc>
                  <a:txBody>
                    <a:bodyPr/>
                    <a:lstStyle/>
                    <a:p>
                      <a:pPr algn="l" indent="0" marL="0">
                        <a:buNone/>
                      </a:pPr>
                      <a:r>
                        <a:rPr lang="en-US" sz="1100" b="1" dirty="0">
                          <a:solidFill>
                            <a:srgbClr val="2C231C"/>
                          </a:solidFill>
                          <a:latin typeface="Sarabun" pitchFamily="34" charset="0"/>
                          <a:ea typeface="Sarabun" pitchFamily="34" charset="-122"/>
                          <a:cs typeface="Sarabun" pitchFamily="34" charset="-120"/>
                        </a:rPr>
                        <a:t>On ordinary days it barely wins</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100" dirty="0">
                          <a:solidFill>
                            <a:srgbClr val="2C231C"/>
                          </a:solidFill>
                          <a:latin typeface="Sarabun" pitchFamily="34" charset="0"/>
                          <a:ea typeface="Sarabun" pitchFamily="34" charset="-122"/>
                          <a:cs typeface="Sarabun" pitchFamily="34" charset="-120"/>
                        </a:rPr>
                        <a:t>3.95 against 3.98, which is smaller than the 5.38 gap the data itself carries. Not worth claiming</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r h="365760">
                <a:tc>
                  <a:txBody>
                    <a:bodyPr/>
                    <a:lstStyle/>
                    <a:p>
                      <a:pPr algn="l" indent="0" marL="0">
                        <a:buNone/>
                      </a:pPr>
                      <a:r>
                        <a:rPr lang="en-US" sz="1100" b="1" dirty="0">
                          <a:solidFill>
                            <a:srgbClr val="2C231C"/>
                          </a:solidFill>
                          <a:latin typeface="Sarabun" pitchFamily="34" charset="0"/>
                          <a:ea typeface="Sarabun" pitchFamily="34" charset="-122"/>
                          <a:cs typeface="Sarabun" pitchFamily="34" charset="-120"/>
                        </a:rPr>
                        <a:t>On the days that matter it wins clearly</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100" dirty="0">
                          <a:solidFill>
                            <a:srgbClr val="2C231C"/>
                          </a:solidFill>
                          <a:latin typeface="Sarabun" pitchFamily="34" charset="0"/>
                          <a:ea typeface="Sarabun" pitchFamily="34" charset="-122"/>
                          <a:cs typeface="Sarabun" pitchFamily="34" charset="-120"/>
                        </a:rPr>
                        <a:t>14.1 down to 11.8, a 16% cut, and both models manage it</a:t>
                      </a:r>
                      <a:endParaRPr lang="en-US" sz="110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bl>
          </a:graphicData>
        </a:graphic>
      </p:graphicFrame>
      <p:sp>
        <p:nvSpPr>
          <p:cNvPr id="7" name="Shape 3"/>
          <p:cNvSpPr/>
          <p:nvPr/>
        </p:nvSpPr>
        <p:spPr>
          <a:xfrm>
            <a:off x="502920" y="4114800"/>
            <a:ext cx="8138160" cy="932688"/>
          </a:xfrm>
          <a:prstGeom prst="roundRect">
            <a:avLst>
              <a:gd name="adj" fmla="val 7843"/>
            </a:avLst>
          </a:prstGeom>
          <a:solidFill>
            <a:srgbClr val="2A2018"/>
          </a:solidFill>
          <a:ln w="12700">
            <a:solidFill>
              <a:srgbClr val="2A2018"/>
            </a:solidFill>
            <a:prstDash val="solid"/>
          </a:ln>
        </p:spPr>
      </p:sp>
      <p:sp>
        <p:nvSpPr>
          <p:cNvPr id="8" name="Text 4"/>
          <p:cNvSpPr txBox="1"/>
          <p:nvPr/>
        </p:nvSpPr>
        <p:spPr>
          <a:xfrm>
            <a:off x="758952" y="4242816"/>
            <a:ext cx="7626096" cy="347472"/>
          </a:xfrm>
          <a:prstGeom prst="rect">
            <a:avLst/>
          </a:prstGeom>
          <a:noFill/>
          <a:ln/>
        </p:spPr>
        <p:txBody>
          <a:bodyPr wrap="square" lIns="0" tIns="0" rIns="0" bIns="0" rtlCol="0" anchor="ctr"/>
          <a:lstStyle/>
          <a:p>
            <a:pPr indent="0" marL="0">
              <a:buNone/>
            </a:pPr>
            <a:r>
              <a:rPr lang="en-US" sz="1500" b="1" dirty="0">
                <a:solidFill>
                  <a:srgbClr val="FFFDFA"/>
                </a:solidFill>
                <a:latin typeface="Sarabun" pitchFamily="34" charset="0"/>
                <a:ea typeface="Sarabun" pitchFamily="34" charset="-122"/>
                <a:cs typeface="Sarabun" pitchFamily="34" charset="-120"/>
              </a:rPr>
              <a:t>The useful output is a warning that tomorrow changes, not tomorrow's number.</a:t>
            </a:r>
            <a:endParaRPr lang="en-US" sz="1500" dirty="0"/>
          </a:p>
        </p:txBody>
      </p:sp>
      <p:sp>
        <p:nvSpPr>
          <p:cNvPr id="9" name="Text 5"/>
          <p:cNvSpPr txBox="1"/>
          <p:nvPr/>
        </p:nvSpPr>
        <p:spPr>
          <a:xfrm>
            <a:off x="758952" y="4626864"/>
            <a:ext cx="7626096" cy="329184"/>
          </a:xfrm>
          <a:prstGeom prst="rect">
            <a:avLst/>
          </a:prstGeom>
          <a:noFill/>
          <a:ln/>
        </p:spPr>
        <p:txBody>
          <a:bodyPr wrap="square" lIns="0" tIns="0" rIns="0" bIns="0" rtlCol="0" anchor="ctr"/>
          <a:lstStyle/>
          <a:p>
            <a:pPr indent="0" marL="0">
              <a:buNone/>
            </a:pPr>
            <a:r>
              <a:rPr lang="en-US" sz="1150" dirty="0">
                <a:solidFill>
                  <a:srgbClr val="E9A56B"/>
                </a:solidFill>
                <a:latin typeface="Sarabun" pitchFamily="34" charset="0"/>
                <a:ea typeface="Sarabun" pitchFamily="34" charset="-122"/>
                <a:cs typeface="Sarabun" pitchFamily="34" charset="-120"/>
              </a:rPr>
              <a:t>That is what the next slide predicts, and what the first recommendation asks the province to publish.</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A"/>
        </a:solidFill>
      </p:bgPr>
    </p:bg>
    <p:spTree>
      <p:nvGrpSpPr>
        <p:cNvPr id="1" name=""/>
        <p:cNvGrpSpPr/>
        <p:nvPr/>
      </p:nvGrpSpPr>
      <p:grpSpPr>
        <a:xfrm>
          <a:off x="0" y="0"/>
          <a:ext cx="0" cy="0"/>
          <a:chOff x="0" y="0"/>
          <a:chExt cx="0" cy="0"/>
        </a:xfrm>
      </p:grpSpPr>
      <p:sp>
        <p:nvSpPr>
          <p:cNvPr id="2" name="Text 0"/>
          <p:cNvSpPr txBox="1"/>
          <p:nvPr/>
        </p:nvSpPr>
        <p:spPr>
          <a:xfrm>
            <a:off x="502920" y="274320"/>
            <a:ext cx="8138160" cy="201168"/>
          </a:xfrm>
          <a:prstGeom prst="rect">
            <a:avLst/>
          </a:prstGeom>
          <a:noFill/>
          <a:ln/>
        </p:spPr>
        <p:txBody>
          <a:bodyPr wrap="square" lIns="0" tIns="0" rIns="0" bIns="0" rtlCol="0" anchor="ctr"/>
          <a:lstStyle/>
          <a:p>
            <a:pPr indent="0" marL="0">
              <a:buNone/>
            </a:pPr>
            <a:r>
              <a:rPr lang="en-US" sz="1050" b="1" spc="160" kern="0" dirty="0">
                <a:solidFill>
                  <a:srgbClr val="BF5722"/>
                </a:solidFill>
                <a:latin typeface="Sarabun" pitchFamily="34" charset="0"/>
                <a:ea typeface="Sarabun" pitchFamily="34" charset="-122"/>
                <a:cs typeface="Sarabun" pitchFamily="34" charset="-120"/>
              </a:rPr>
              <a:t>MACHINE LEARNING  ·  3 OF 3</a:t>
            </a:r>
            <a:endParaRPr lang="en-US" sz="1050" dirty="0"/>
          </a:p>
        </p:txBody>
      </p:sp>
      <p:sp>
        <p:nvSpPr>
          <p:cNvPr id="3" name="Text 1"/>
          <p:cNvSpPr txBox="1"/>
          <p:nvPr/>
        </p:nvSpPr>
        <p:spPr>
          <a:xfrm>
            <a:off x="502920" y="493776"/>
            <a:ext cx="8138160" cy="512064"/>
          </a:xfrm>
          <a:prstGeom prst="rect">
            <a:avLst/>
          </a:prstGeom>
          <a:noFill/>
          <a:ln/>
        </p:spPr>
        <p:txBody>
          <a:bodyPr wrap="square" lIns="0" tIns="0" rIns="0" bIns="0" rtlCol="0" anchor="t"/>
          <a:lstStyle/>
          <a:p>
            <a:pPr indent="0" marL="0">
              <a:buNone/>
            </a:pPr>
            <a:r>
              <a:rPr lang="en-US" sz="2500" b="1" dirty="0">
                <a:solidFill>
                  <a:srgbClr val="2C231C"/>
                </a:solidFill>
                <a:latin typeface="Sarabun" pitchFamily="34" charset="0"/>
                <a:ea typeface="Sarabun" pitchFamily="34" charset="-122"/>
                <a:cs typeface="Sarabun" pitchFamily="34" charset="-120"/>
              </a:rPr>
              <a:t>Where to draw the line is a policy choice, not a default</a:t>
            </a:r>
            <a:endParaRPr lang="en-US" sz="2500" dirty="0"/>
          </a:p>
        </p:txBody>
      </p:sp>
      <p:sp>
        <p:nvSpPr>
          <p:cNvPr id="4" name="Text 2"/>
          <p:cNvSpPr txBox="1"/>
          <p:nvPr/>
        </p:nvSpPr>
        <p:spPr>
          <a:xfrm>
            <a:off x="502920" y="1060704"/>
            <a:ext cx="8138160" cy="310896"/>
          </a:xfrm>
          <a:prstGeom prst="rect">
            <a:avLst/>
          </a:prstGeom>
          <a:noFill/>
          <a:ln/>
        </p:spPr>
        <p:txBody>
          <a:bodyPr wrap="square" lIns="0" tIns="0" rIns="0" bIns="0" rtlCol="0" anchor="t"/>
          <a:lstStyle/>
          <a:p>
            <a:pPr indent="0" marL="0">
              <a:buNone/>
            </a:pPr>
            <a:r>
              <a:rPr lang="en-US" sz="1350" b="1" dirty="0">
                <a:solidFill>
                  <a:srgbClr val="2C231C"/>
                </a:solidFill>
                <a:latin typeface="Sarabun" pitchFamily="34" charset="0"/>
                <a:ea typeface="Sarabun" pitchFamily="34" charset="-122"/>
                <a:cs typeface="Sarabun" pitchFamily="34" charset="-120"/>
              </a:rPr>
              <a:t>The model returns a probability. Someone has to decide how sure is sure enough to warn.</a:t>
            </a:r>
            <a:endParaRPr lang="en-US" sz="1350" dirty="0"/>
          </a:p>
        </p:txBody>
      </p:sp>
      <p:pic>
        <p:nvPicPr>
          <p:cNvPr id="5" name="Image 0" descr="/mnt/attach/outputs/pm25/outputs/figures/fig08_classification_threshold.png">    </p:cNvPr>
          <p:cNvPicPr>
            <a:picLocks noChangeAspect="1"/>
          </p:cNvPicPr>
          <p:nvPr/>
        </p:nvPicPr>
        <p:blipFill>
          <a:blip r:embed="rId1"/>
          <a:stretch>
            <a:fillRect/>
          </a:stretch>
        </p:blipFill>
        <p:spPr>
          <a:xfrm>
            <a:off x="2636691" y="1353312"/>
            <a:ext cx="3870617" cy="1609344"/>
          </a:xfrm>
          <a:prstGeom prst="rect">
            <a:avLst/>
          </a:prstGeom>
        </p:spPr>
      </p:pic>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3054096"/>
          <a:ext cx="8138160" cy="914400"/>
        </p:xfrm>
        <a:graphic>
          <a:graphicData uri="http://schemas.openxmlformats.org/drawingml/2006/table">
            <a:tbl>
              <a:tblPr/>
              <a:tblGrid>
                <a:gridCol w="3108960"/>
                <a:gridCol w="2011680"/>
                <a:gridCol w="1463040"/>
                <a:gridCol w="1554480"/>
              </a:tblGrid>
              <a:tr h="237744">
                <a:tc>
                  <a:txBody>
                    <a:bodyPr/>
                    <a:lstStyle/>
                    <a:p>
                      <a:pPr algn="l" indent="0" marL="0">
                        <a:buNone/>
                      </a:pPr>
                      <a:r>
                        <a:rPr lang="en-US" sz="1050" b="1" dirty="0">
                          <a:solidFill>
                            <a:srgbClr val="7C6B5B"/>
                          </a:solidFill>
                          <a:latin typeface="Sarabun" pitchFamily="34" charset="0"/>
                          <a:ea typeface="Sarabun" pitchFamily="34" charset="-122"/>
                          <a:cs typeface="Sarabun" pitchFamily="34" charset="-120"/>
                        </a:rPr>
                        <a:t>Approach</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5EDE1"/>
                    </a:solidFill>
                  </a:tcPr>
                </a:tc>
                <a:tc>
                  <a:txBody>
                    <a:bodyPr/>
                    <a:lstStyle/>
                    <a:p>
                      <a:pPr algn="r" indent="0" marL="0">
                        <a:buNone/>
                      </a:pPr>
                      <a:r>
                        <a:rPr lang="en-US" sz="1050" b="1" dirty="0">
                          <a:solidFill>
                            <a:srgbClr val="7C6B5B"/>
                          </a:solidFill>
                          <a:latin typeface="Sarabun" pitchFamily="34" charset="0"/>
                          <a:ea typeface="Sarabun" pitchFamily="34" charset="-122"/>
                          <a:cs typeface="Sarabun" pitchFamily="34" charset="-120"/>
                        </a:rPr>
                        <a:t>Dangerous days missed</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5EDE1"/>
                    </a:solidFill>
                  </a:tcPr>
                </a:tc>
                <a:tc>
                  <a:txBody>
                    <a:bodyPr/>
                    <a:lstStyle/>
                    <a:p>
                      <a:pPr algn="r" indent="0" marL="0">
                        <a:buNone/>
                      </a:pPr>
                      <a:r>
                        <a:rPr lang="en-US" sz="1050" b="1" dirty="0">
                          <a:solidFill>
                            <a:srgbClr val="7C6B5B"/>
                          </a:solidFill>
                          <a:latin typeface="Sarabun" pitchFamily="34" charset="0"/>
                          <a:ea typeface="Sarabun" pitchFamily="34" charset="-122"/>
                          <a:cs typeface="Sarabun" pitchFamily="34" charset="-120"/>
                        </a:rPr>
                        <a:t>False alarms</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5EDE1"/>
                    </a:solidFill>
                  </a:tcPr>
                </a:tc>
                <a:tc>
                  <a:txBody>
                    <a:bodyPr/>
                    <a:lstStyle/>
                    <a:p>
                      <a:pPr algn="r" indent="0" marL="0">
                        <a:buNone/>
                      </a:pPr>
                      <a:r>
                        <a:rPr lang="en-US" sz="1050" b="1" dirty="0">
                          <a:solidFill>
                            <a:srgbClr val="7C6B5B"/>
                          </a:solidFill>
                          <a:latin typeface="Sarabun" pitchFamily="34" charset="0"/>
                          <a:ea typeface="Sarabun" pitchFamily="34" charset="-122"/>
                          <a:cs typeface="Sarabun" pitchFamily="34" charset="-120"/>
                        </a:rPr>
                        <a:t>Caught</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5EDE1"/>
                    </a:solidFill>
                  </a:tcPr>
                </a:tc>
              </a:tr>
              <a:tr h="237744">
                <a:tc>
                  <a:txBody>
                    <a:bodyPr/>
                    <a:lstStyle/>
                    <a:p>
                      <a:pPr algn="l" indent="0" marL="0">
                        <a:buNone/>
                      </a:pPr>
                      <a:r>
                        <a:rPr lang="en-US" sz="1050" b="1" dirty="0">
                          <a:solidFill>
                            <a:srgbClr val="2C231C"/>
                          </a:solidFill>
                          <a:latin typeface="Sarabun" pitchFamily="34" charset="0"/>
                          <a:ea typeface="Sarabun" pitchFamily="34" charset="-122"/>
                          <a:cs typeface="Sarabun" pitchFamily="34" charset="-120"/>
                        </a:rPr>
                        <a:t>Say "safe" every day</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r" indent="0" marL="0">
                        <a:buNone/>
                      </a:pPr>
                      <a:r>
                        <a:rPr lang="en-US" sz="1050" dirty="0">
                          <a:solidFill>
                            <a:srgbClr val="2C231C"/>
                          </a:solidFill>
                          <a:latin typeface="Sarabun" pitchFamily="34" charset="0"/>
                          <a:ea typeface="Sarabun" pitchFamily="34" charset="-122"/>
                          <a:cs typeface="Sarabun" pitchFamily="34" charset="-120"/>
                        </a:rPr>
                        <a:t>45</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r" indent="0" marL="0">
                        <a:buNone/>
                      </a:pPr>
                      <a:r>
                        <a:rPr lang="en-US" sz="1050" dirty="0">
                          <a:solidFill>
                            <a:srgbClr val="2C231C"/>
                          </a:solidFill>
                          <a:latin typeface="Sarabun" pitchFamily="34" charset="0"/>
                          <a:ea typeface="Sarabun" pitchFamily="34" charset="-122"/>
                          <a:cs typeface="Sarabun" pitchFamily="34" charset="-120"/>
                        </a:rPr>
                        <a:t>0</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r" indent="0" marL="0">
                        <a:buNone/>
                      </a:pPr>
                      <a:r>
                        <a:rPr lang="en-US" sz="1050" dirty="0">
                          <a:solidFill>
                            <a:srgbClr val="2C231C"/>
                          </a:solidFill>
                          <a:latin typeface="Sarabun" pitchFamily="34" charset="0"/>
                          <a:ea typeface="Sarabun" pitchFamily="34" charset="-122"/>
                          <a:cs typeface="Sarabun" pitchFamily="34" charset="-120"/>
                        </a:rPr>
                        <a:t>0%</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r h="237744">
                <a:tc>
                  <a:txBody>
                    <a:bodyPr/>
                    <a:lstStyle/>
                    <a:p>
                      <a:pPr algn="l" indent="0" marL="0">
                        <a:buNone/>
                      </a:pPr>
                      <a:r>
                        <a:rPr lang="en-US" sz="1050" b="1" dirty="0">
                          <a:solidFill>
                            <a:srgbClr val="2C231C"/>
                          </a:solidFill>
                          <a:latin typeface="Sarabun" pitchFamily="34" charset="0"/>
                          <a:ea typeface="Sarabun" pitchFamily="34" charset="-122"/>
                          <a:cs typeface="Sarabun" pitchFamily="34" charset="-120"/>
                        </a:rPr>
                        <a:t>Guessing "tomorrow = today"</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r" indent="0" marL="0">
                        <a:buNone/>
                      </a:pPr>
                      <a:r>
                        <a:rPr lang="en-US" sz="1050" dirty="0">
                          <a:solidFill>
                            <a:srgbClr val="2C231C"/>
                          </a:solidFill>
                          <a:latin typeface="Sarabun" pitchFamily="34" charset="0"/>
                          <a:ea typeface="Sarabun" pitchFamily="34" charset="-122"/>
                          <a:cs typeface="Sarabun" pitchFamily="34" charset="-120"/>
                        </a:rPr>
                        <a:t>8</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r" indent="0" marL="0">
                        <a:buNone/>
                      </a:pPr>
                      <a:r>
                        <a:rPr lang="en-US" sz="1050" dirty="0">
                          <a:solidFill>
                            <a:srgbClr val="2C231C"/>
                          </a:solidFill>
                          <a:latin typeface="Sarabun" pitchFamily="34" charset="0"/>
                          <a:ea typeface="Sarabun" pitchFamily="34" charset="-122"/>
                          <a:cs typeface="Sarabun" pitchFamily="34" charset="-120"/>
                        </a:rPr>
                        <a:t>8</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r" indent="0" marL="0">
                        <a:buNone/>
                      </a:pPr>
                      <a:r>
                        <a:rPr lang="en-US" sz="1050" dirty="0">
                          <a:solidFill>
                            <a:srgbClr val="2C231C"/>
                          </a:solidFill>
                          <a:latin typeface="Sarabun" pitchFamily="34" charset="0"/>
                          <a:ea typeface="Sarabun" pitchFamily="34" charset="-122"/>
                          <a:cs typeface="Sarabun" pitchFamily="34" charset="-120"/>
                        </a:rPr>
                        <a:t>82%</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r h="237744">
                <a:tc>
                  <a:txBody>
                    <a:bodyPr/>
                    <a:lstStyle/>
                    <a:p>
                      <a:pPr algn="l" indent="0" marL="0">
                        <a:buNone/>
                      </a:pPr>
                      <a:r>
                        <a:rPr lang="en-US" sz="1050" b="1" dirty="0">
                          <a:solidFill>
                            <a:srgbClr val="BF5722"/>
                          </a:solidFill>
                          <a:latin typeface="Sarabun" pitchFamily="34" charset="0"/>
                          <a:ea typeface="Sarabun" pitchFamily="34" charset="-122"/>
                          <a:cs typeface="Sarabun" pitchFamily="34" charset="-120"/>
                        </a:rPr>
                        <a:t>Where I set the line</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r" indent="0" marL="0">
                        <a:buNone/>
                      </a:pPr>
                      <a:r>
                        <a:rPr lang="en-US" sz="1050" dirty="0">
                          <a:solidFill>
                            <a:srgbClr val="BF5722"/>
                          </a:solidFill>
                          <a:latin typeface="Sarabun" pitchFamily="34" charset="0"/>
                          <a:ea typeface="Sarabun" pitchFamily="34" charset="-122"/>
                          <a:cs typeface="Sarabun" pitchFamily="34" charset="-120"/>
                        </a:rPr>
                        <a:t>4</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r" indent="0" marL="0">
                        <a:buNone/>
                      </a:pPr>
                      <a:r>
                        <a:rPr lang="en-US" sz="1050" dirty="0">
                          <a:solidFill>
                            <a:srgbClr val="BF5722"/>
                          </a:solidFill>
                          <a:latin typeface="Sarabun" pitchFamily="34" charset="0"/>
                          <a:ea typeface="Sarabun" pitchFamily="34" charset="-122"/>
                          <a:cs typeface="Sarabun" pitchFamily="34" charset="-120"/>
                        </a:rPr>
                        <a:t>26</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r" indent="0" marL="0">
                        <a:buNone/>
                      </a:pPr>
                      <a:r>
                        <a:rPr lang="en-US" sz="1050" dirty="0">
                          <a:solidFill>
                            <a:srgbClr val="BF5722"/>
                          </a:solidFill>
                          <a:latin typeface="Sarabun" pitchFamily="34" charset="0"/>
                          <a:ea typeface="Sarabun" pitchFamily="34" charset="-122"/>
                          <a:cs typeface="Sarabun" pitchFamily="34" charset="-120"/>
                        </a:rPr>
                        <a:t>91%</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r h="237744">
                <a:tc>
                  <a:txBody>
                    <a:bodyPr/>
                    <a:lstStyle/>
                    <a:p>
                      <a:pPr algn="l" indent="0" marL="0">
                        <a:buNone/>
                      </a:pPr>
                      <a:r>
                        <a:rPr lang="en-US" sz="1050" b="1" dirty="0">
                          <a:solidFill>
                            <a:srgbClr val="2C231C"/>
                          </a:solidFill>
                          <a:latin typeface="Sarabun" pitchFamily="34" charset="0"/>
                          <a:ea typeface="Sarabun" pitchFamily="34" charset="-122"/>
                          <a:cs typeface="Sarabun" pitchFamily="34" charset="-120"/>
                        </a:rPr>
                        <a:t>Tuned to never miss one</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r" indent="0" marL="0">
                        <a:buNone/>
                      </a:pPr>
                      <a:r>
                        <a:rPr lang="en-US" sz="1050" dirty="0">
                          <a:solidFill>
                            <a:srgbClr val="2C231C"/>
                          </a:solidFill>
                          <a:latin typeface="Sarabun" pitchFamily="34" charset="0"/>
                          <a:ea typeface="Sarabun" pitchFamily="34" charset="-122"/>
                          <a:cs typeface="Sarabun" pitchFamily="34" charset="-120"/>
                        </a:rPr>
                        <a:t>0</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r" indent="0" marL="0">
                        <a:buNone/>
                      </a:pPr>
                      <a:r>
                        <a:rPr lang="en-US" sz="1050" dirty="0">
                          <a:solidFill>
                            <a:srgbClr val="2C231C"/>
                          </a:solidFill>
                          <a:latin typeface="Sarabun" pitchFamily="34" charset="0"/>
                          <a:ea typeface="Sarabun" pitchFamily="34" charset="-122"/>
                          <a:cs typeface="Sarabun" pitchFamily="34" charset="-120"/>
                        </a:rPr>
                        <a:t>99</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r" indent="0" marL="0">
                        <a:buNone/>
                      </a:pPr>
                      <a:r>
                        <a:rPr lang="en-US" sz="1050" dirty="0">
                          <a:solidFill>
                            <a:srgbClr val="2C231C"/>
                          </a:solidFill>
                          <a:latin typeface="Sarabun" pitchFamily="34" charset="0"/>
                          <a:ea typeface="Sarabun" pitchFamily="34" charset="-122"/>
                          <a:cs typeface="Sarabun" pitchFamily="34" charset="-120"/>
                        </a:rPr>
                        <a:t>100%</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bl>
          </a:graphicData>
        </a:graphic>
      </p:graphicFrame>
      <p:sp>
        <p:nvSpPr>
          <p:cNvPr id="7" name="Text 3"/>
          <p:cNvSpPr txBox="1"/>
          <p:nvPr/>
        </p:nvSpPr>
        <p:spPr>
          <a:xfrm>
            <a:off x="502920" y="4517136"/>
            <a:ext cx="8138160" cy="457200"/>
          </a:xfrm>
          <a:prstGeom prst="rect">
            <a:avLst/>
          </a:prstGeom>
          <a:noFill/>
          <a:ln/>
        </p:spPr>
        <p:txBody>
          <a:bodyPr wrap="square" lIns="0" tIns="0" rIns="0" bIns="0" rtlCol="0" anchor="ctr"/>
          <a:lstStyle/>
          <a:p>
            <a:pPr indent="0" marL="0">
              <a:buNone/>
            </a:pPr>
            <a:r>
              <a:rPr lang="en-US" sz="1000" i="1" dirty="0">
                <a:solidFill>
                  <a:srgbClr val="7C6B5B"/>
                </a:solidFill>
                <a:latin typeface="Sarabun" pitchFamily="34" charset="0"/>
                <a:ea typeface="Sarabun" pitchFamily="34" charset="-122"/>
                <a:cs typeface="Sarabun" pitchFamily="34" charset="-120"/>
              </a:rPr>
              <a:t>A false alarm costs one day of opening a room and handing out masks. A miss costs a day of people breathing it unprotected. Catching all 45 would mean warning every four and a half days, which is how a warning system teaches people to ignore it.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A"/>
        </a:solidFill>
      </p:bgPr>
    </p:bg>
    <p:spTree>
      <p:nvGrpSpPr>
        <p:cNvPr id="1" name=""/>
        <p:cNvGrpSpPr/>
        <p:nvPr/>
      </p:nvGrpSpPr>
      <p:grpSpPr>
        <a:xfrm>
          <a:off x="0" y="0"/>
          <a:ext cx="0" cy="0"/>
          <a:chOff x="0" y="0"/>
          <a:chExt cx="0" cy="0"/>
        </a:xfrm>
      </p:grpSpPr>
      <p:sp>
        <p:nvSpPr>
          <p:cNvPr id="2" name="Text 0"/>
          <p:cNvSpPr txBox="1"/>
          <p:nvPr/>
        </p:nvSpPr>
        <p:spPr>
          <a:xfrm>
            <a:off x="502920" y="274320"/>
            <a:ext cx="8138160" cy="201168"/>
          </a:xfrm>
          <a:prstGeom prst="rect">
            <a:avLst/>
          </a:prstGeom>
          <a:noFill/>
          <a:ln/>
        </p:spPr>
        <p:txBody>
          <a:bodyPr wrap="square" lIns="0" tIns="0" rIns="0" bIns="0" rtlCol="0" anchor="ctr"/>
          <a:lstStyle/>
          <a:p>
            <a:pPr indent="0" marL="0">
              <a:buNone/>
            </a:pPr>
            <a:r>
              <a:rPr lang="en-US" sz="1050" b="1" spc="160" kern="0" dirty="0">
                <a:solidFill>
                  <a:srgbClr val="BF5722"/>
                </a:solidFill>
                <a:latin typeface="Sarabun" pitchFamily="34" charset="0"/>
                <a:ea typeface="Sarabun" pitchFamily="34" charset="-122"/>
                <a:cs typeface="Sarabun" pitchFamily="34" charset="-120"/>
              </a:rPr>
              <a:t>THE FINDING</a:t>
            </a:r>
            <a:endParaRPr lang="en-US" sz="1050" dirty="0"/>
          </a:p>
        </p:txBody>
      </p:sp>
      <p:sp>
        <p:nvSpPr>
          <p:cNvPr id="3" name="Text 1"/>
          <p:cNvSpPr txBox="1"/>
          <p:nvPr/>
        </p:nvSpPr>
        <p:spPr>
          <a:xfrm>
            <a:off x="502920" y="493776"/>
            <a:ext cx="8138160" cy="512064"/>
          </a:xfrm>
          <a:prstGeom prst="rect">
            <a:avLst/>
          </a:prstGeom>
          <a:noFill/>
          <a:ln/>
        </p:spPr>
        <p:txBody>
          <a:bodyPr wrap="square" lIns="0" tIns="0" rIns="0" bIns="0" rtlCol="0" anchor="t"/>
          <a:lstStyle/>
          <a:p>
            <a:pPr indent="0" marL="0">
              <a:buNone/>
            </a:pPr>
            <a:r>
              <a:rPr lang="en-US" sz="2500" b="1" dirty="0">
                <a:solidFill>
                  <a:srgbClr val="2C231C"/>
                </a:solidFill>
                <a:latin typeface="Sarabun" pitchFamily="34" charset="0"/>
                <a:ea typeface="Sarabun" pitchFamily="34" charset="-122"/>
                <a:cs typeface="Sarabun" pitchFamily="34" charset="-120"/>
              </a:rPr>
              <a:t>A bad-day count is not a burning score</a:t>
            </a:r>
            <a:endParaRPr lang="en-US" sz="2500" dirty="0"/>
          </a:p>
        </p:txBody>
      </p:sp>
      <p:sp>
        <p:nvSpPr>
          <p:cNvPr id="4" name="Text 2"/>
          <p:cNvSpPr txBox="1"/>
          <p:nvPr/>
        </p:nvSpPr>
        <p:spPr>
          <a:xfrm>
            <a:off x="502920" y="1060704"/>
            <a:ext cx="8138160" cy="310896"/>
          </a:xfrm>
          <a:prstGeom prst="rect">
            <a:avLst/>
          </a:prstGeom>
          <a:noFill/>
          <a:ln/>
        </p:spPr>
        <p:txBody>
          <a:bodyPr wrap="square" lIns="0" tIns="0" rIns="0" bIns="0" rtlCol="0" anchor="t"/>
          <a:lstStyle/>
          <a:p>
            <a:pPr indent="0" marL="0">
              <a:buNone/>
            </a:pPr>
            <a:r>
              <a:rPr lang="en-US" sz="1350" b="1" dirty="0">
                <a:solidFill>
                  <a:srgbClr val="2C231C"/>
                </a:solidFill>
                <a:latin typeface="Sarabun" pitchFamily="34" charset="0"/>
                <a:ea typeface="Sarabun" pitchFamily="34" charset="-122"/>
                <a:cs typeface="Sarabun" pitchFamily="34" charset="-120"/>
              </a:rPr>
              <a:t>Both are true at once: day to day fires and smoke track closely, year to year they do not.</a:t>
            </a:r>
            <a:endParaRPr lang="en-US" sz="1350" dirty="0"/>
          </a:p>
        </p:txBody>
      </p:sp>
      <p:pic>
        <p:nvPicPr>
          <p:cNvPr id="5" name="Image 0" descr="/mnt/attach/outputs/pm25/outputs/figures/fig10_emission_vs_outcome.png">    </p:cNvPr>
          <p:cNvPicPr>
            <a:picLocks noChangeAspect="1"/>
          </p:cNvPicPr>
          <p:nvPr/>
        </p:nvPicPr>
        <p:blipFill>
          <a:blip r:embed="rId1"/>
          <a:stretch>
            <a:fillRect/>
          </a:stretch>
        </p:blipFill>
        <p:spPr>
          <a:xfrm>
            <a:off x="2208758" y="1353312"/>
            <a:ext cx="4726484" cy="1847088"/>
          </a:xfrm>
          <a:prstGeom prst="rect">
            <a:avLst/>
          </a:prstGeom>
        </p:spPr>
      </p:pic>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3291840"/>
          <a:ext cx="8138160" cy="914400"/>
        </p:xfrm>
        <a:graphic>
          <a:graphicData uri="http://schemas.openxmlformats.org/drawingml/2006/table">
            <a:tbl>
              <a:tblPr/>
              <a:tblGrid>
                <a:gridCol w="822960"/>
                <a:gridCol w="2377440"/>
                <a:gridCol w="1828800"/>
                <a:gridCol w="3108960"/>
              </a:tblGrid>
              <a:tr h="237744">
                <a:tc>
                  <a:txBody>
                    <a:bodyPr/>
                    <a:lstStyle/>
                    <a:p>
                      <a:pPr algn="l" indent="0" marL="0">
                        <a:buNone/>
                      </a:pPr>
                      <a:r>
                        <a:rPr lang="en-US" sz="1050" b="1" dirty="0">
                          <a:solidFill>
                            <a:srgbClr val="7C6B5B"/>
                          </a:solidFill>
                          <a:latin typeface="Sarabun" pitchFamily="34" charset="0"/>
                          <a:ea typeface="Sarabun" pitchFamily="34" charset="-122"/>
                          <a:cs typeface="Sarabun" pitchFamily="34" charset="-120"/>
                        </a:rPr>
                        <a:t>Year</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5EDE1"/>
                    </a:solidFill>
                  </a:tcPr>
                </a:tc>
                <a:tc>
                  <a:txBody>
                    <a:bodyPr/>
                    <a:lstStyle/>
                    <a:p>
                      <a:pPr algn="l" indent="0" marL="0">
                        <a:buNone/>
                      </a:pPr>
                      <a:r>
                        <a:rPr lang="en-US" sz="1050" b="1" dirty="0">
                          <a:solidFill>
                            <a:srgbClr val="7C6B5B"/>
                          </a:solidFill>
                          <a:latin typeface="Sarabun" pitchFamily="34" charset="0"/>
                          <a:ea typeface="Sarabun" pitchFamily="34" charset="-122"/>
                          <a:cs typeface="Sarabun" pitchFamily="34" charset="-120"/>
                        </a:rPr>
                        <a:t>Fire detections within 100 km</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5EDE1"/>
                    </a:solidFill>
                  </a:tcPr>
                </a:tc>
                <a:tc>
                  <a:txBody>
                    <a:bodyPr/>
                    <a:lstStyle/>
                    <a:p>
                      <a:pPr algn="l" indent="0" marL="0">
                        <a:buNone/>
                      </a:pPr>
                      <a:r>
                        <a:rPr lang="en-US" sz="1050" b="1" dirty="0">
                          <a:solidFill>
                            <a:srgbClr val="7C6B5B"/>
                          </a:solidFill>
                          <a:latin typeface="Sarabun" pitchFamily="34" charset="0"/>
                          <a:ea typeface="Sarabun" pitchFamily="34" charset="-122"/>
                          <a:cs typeface="Sarabun" pitchFamily="34" charset="-120"/>
                        </a:rPr>
                        <a:t>Days over the standard</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5EDE1"/>
                    </a:solidFill>
                  </a:tcPr>
                </a:tc>
                <a:tc>
                  <a:txBody>
                    <a:bodyPr/>
                    <a:lstStyle/>
                    <a:p>
                      <a:pPr algn="l" indent="0" marL="0">
                        <a:buNone/>
                      </a:pP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5EDE1"/>
                    </a:solidFill>
                  </a:tcPr>
                </a:tc>
              </a:tr>
              <a:tr h="237744">
                <a:tc>
                  <a:txBody>
                    <a:bodyPr/>
                    <a:lstStyle/>
                    <a:p>
                      <a:pPr algn="l" indent="0" marL="0">
                        <a:buNone/>
                      </a:pPr>
                      <a:r>
                        <a:rPr lang="en-US" sz="1050" b="1" dirty="0">
                          <a:solidFill>
                            <a:srgbClr val="2C231C"/>
                          </a:solidFill>
                          <a:latin typeface="Sarabun" pitchFamily="34" charset="0"/>
                          <a:ea typeface="Sarabun" pitchFamily="34" charset="-122"/>
                          <a:cs typeface="Sarabun" pitchFamily="34" charset="-120"/>
                        </a:rPr>
                        <a:t>2023</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050" dirty="0">
                          <a:solidFill>
                            <a:srgbClr val="2C231C"/>
                          </a:solidFill>
                          <a:latin typeface="Sarabun" pitchFamily="34" charset="0"/>
                          <a:ea typeface="Sarabun" pitchFamily="34" charset="-122"/>
                          <a:cs typeface="Sarabun" pitchFamily="34" charset="-120"/>
                        </a:rPr>
                        <a:t>19,190</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050" dirty="0">
                          <a:solidFill>
                            <a:srgbClr val="2C231C"/>
                          </a:solidFill>
                          <a:latin typeface="Sarabun" pitchFamily="34" charset="0"/>
                          <a:ea typeface="Sarabun" pitchFamily="34" charset="-122"/>
                          <a:cs typeface="Sarabun" pitchFamily="34" charset="-120"/>
                        </a:rPr>
                        <a:t>40</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r h="237744">
                <a:tc>
                  <a:txBody>
                    <a:bodyPr/>
                    <a:lstStyle/>
                    <a:p>
                      <a:pPr algn="l" indent="0" marL="0">
                        <a:buNone/>
                      </a:pPr>
                      <a:r>
                        <a:rPr lang="en-US" sz="1050" b="1" dirty="0">
                          <a:solidFill>
                            <a:srgbClr val="2C231C"/>
                          </a:solidFill>
                          <a:latin typeface="Sarabun" pitchFamily="34" charset="0"/>
                          <a:ea typeface="Sarabun" pitchFamily="34" charset="-122"/>
                          <a:cs typeface="Sarabun" pitchFamily="34" charset="-120"/>
                        </a:rPr>
                        <a:t>2024</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050" dirty="0">
                          <a:solidFill>
                            <a:srgbClr val="2C231C"/>
                          </a:solidFill>
                          <a:latin typeface="Sarabun" pitchFamily="34" charset="0"/>
                          <a:ea typeface="Sarabun" pitchFamily="34" charset="-122"/>
                          <a:cs typeface="Sarabun" pitchFamily="34" charset="-120"/>
                        </a:rPr>
                        <a:t>21,312</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050" dirty="0">
                          <a:solidFill>
                            <a:srgbClr val="2C231C"/>
                          </a:solidFill>
                          <a:latin typeface="Sarabun" pitchFamily="34" charset="0"/>
                          <a:ea typeface="Sarabun" pitchFamily="34" charset="-122"/>
                          <a:cs typeface="Sarabun" pitchFamily="34" charset="-120"/>
                        </a:rPr>
                        <a:t>11</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050" dirty="0">
                          <a:solidFill>
                            <a:srgbClr val="BF5722"/>
                          </a:solidFill>
                          <a:latin typeface="Sarabun" pitchFamily="34" charset="0"/>
                          <a:ea typeface="Sarabun" pitchFamily="34" charset="-122"/>
                          <a:cs typeface="Sarabun" pitchFamily="34" charset="-120"/>
                        </a:rPr>
                        <a:t>most fires, fewest bad days</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r h="237744">
                <a:tc>
                  <a:txBody>
                    <a:bodyPr/>
                    <a:lstStyle/>
                    <a:p>
                      <a:pPr algn="l" indent="0" marL="0">
                        <a:buNone/>
                      </a:pPr>
                      <a:r>
                        <a:rPr lang="en-US" sz="1050" b="1" dirty="0">
                          <a:solidFill>
                            <a:srgbClr val="2C231C"/>
                          </a:solidFill>
                          <a:latin typeface="Sarabun" pitchFamily="34" charset="0"/>
                          <a:ea typeface="Sarabun" pitchFamily="34" charset="-122"/>
                          <a:cs typeface="Sarabun" pitchFamily="34" charset="-120"/>
                        </a:rPr>
                        <a:t>2025</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050" dirty="0">
                          <a:solidFill>
                            <a:srgbClr val="2C231C"/>
                          </a:solidFill>
                          <a:latin typeface="Sarabun" pitchFamily="34" charset="0"/>
                          <a:ea typeface="Sarabun" pitchFamily="34" charset="-122"/>
                          <a:cs typeface="Sarabun" pitchFamily="34" charset="-120"/>
                        </a:rPr>
                        <a:t>9,329</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050" dirty="0">
                          <a:solidFill>
                            <a:srgbClr val="2C231C"/>
                          </a:solidFill>
                          <a:latin typeface="Sarabun" pitchFamily="34" charset="0"/>
                          <a:ea typeface="Sarabun" pitchFamily="34" charset="-122"/>
                          <a:cs typeface="Sarabun" pitchFamily="34" charset="-120"/>
                        </a:rPr>
                        <a:t>29</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050" dirty="0">
                          <a:solidFill>
                            <a:srgbClr val="BF5722"/>
                          </a:solidFill>
                          <a:latin typeface="Sarabun" pitchFamily="34" charset="0"/>
                          <a:ea typeface="Sarabun" pitchFamily="34" charset="-122"/>
                          <a:cs typeface="Sarabun" pitchFamily="34" charset="-120"/>
                        </a:rPr>
                        <a:t>fewest fires, nearly 3x 2024's bad days</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r h="237744">
                <a:tc>
                  <a:txBody>
                    <a:bodyPr/>
                    <a:lstStyle/>
                    <a:p>
                      <a:pPr algn="l" indent="0" marL="0">
                        <a:buNone/>
                      </a:pPr>
                      <a:r>
                        <a:rPr lang="en-US" sz="1050" b="1" dirty="0">
                          <a:solidFill>
                            <a:srgbClr val="2C231C"/>
                          </a:solidFill>
                          <a:latin typeface="Sarabun" pitchFamily="34" charset="0"/>
                          <a:ea typeface="Sarabun" pitchFamily="34" charset="-122"/>
                          <a:cs typeface="Sarabun" pitchFamily="34" charset="-120"/>
                        </a:rPr>
                        <a:t>2026</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050" dirty="0">
                          <a:solidFill>
                            <a:srgbClr val="2C231C"/>
                          </a:solidFill>
                          <a:latin typeface="Sarabun" pitchFamily="34" charset="0"/>
                          <a:ea typeface="Sarabun" pitchFamily="34" charset="-122"/>
                          <a:cs typeface="Sarabun" pitchFamily="34" charset="-120"/>
                        </a:rPr>
                        <a:t>19,491</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050" dirty="0">
                          <a:solidFill>
                            <a:srgbClr val="2C231C"/>
                          </a:solidFill>
                          <a:latin typeface="Sarabun" pitchFamily="34" charset="0"/>
                          <a:ea typeface="Sarabun" pitchFamily="34" charset="-122"/>
                          <a:cs typeface="Sarabun" pitchFamily="34" charset="-120"/>
                        </a:rPr>
                        <a:t>45</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050" dirty="0">
                          <a:solidFill>
                            <a:srgbClr val="BF5722"/>
                          </a:solidFill>
                          <a:latin typeface="Sarabun" pitchFamily="34" charset="0"/>
                          <a:ea typeface="Sarabun" pitchFamily="34" charset="-122"/>
                          <a:cs typeface="Sarabun" pitchFamily="34" charset="-120"/>
                        </a:rPr>
                        <a:t>241 days only</a:t>
                      </a:r>
                      <a:endParaRPr lang="en-US" sz="10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A"/>
        </a:solidFill>
      </p:bgPr>
    </p:bg>
    <p:spTree>
      <p:nvGrpSpPr>
        <p:cNvPr id="1" name=""/>
        <p:cNvGrpSpPr/>
        <p:nvPr/>
      </p:nvGrpSpPr>
      <p:grpSpPr>
        <a:xfrm>
          <a:off x="0" y="0"/>
          <a:ext cx="0" cy="0"/>
          <a:chOff x="0" y="0"/>
          <a:chExt cx="0" cy="0"/>
        </a:xfrm>
      </p:grpSpPr>
      <p:sp>
        <p:nvSpPr>
          <p:cNvPr id="2" name="Text 0"/>
          <p:cNvSpPr txBox="1"/>
          <p:nvPr/>
        </p:nvSpPr>
        <p:spPr>
          <a:xfrm>
            <a:off x="502920" y="274320"/>
            <a:ext cx="8138160" cy="201168"/>
          </a:xfrm>
          <a:prstGeom prst="rect">
            <a:avLst/>
          </a:prstGeom>
          <a:noFill/>
          <a:ln/>
        </p:spPr>
        <p:txBody>
          <a:bodyPr wrap="square" lIns="0" tIns="0" rIns="0" bIns="0" rtlCol="0" anchor="ctr"/>
          <a:lstStyle/>
          <a:p>
            <a:pPr indent="0" marL="0">
              <a:buNone/>
            </a:pPr>
            <a:r>
              <a:rPr lang="en-US" sz="1050" b="1" spc="160" kern="0" dirty="0">
                <a:solidFill>
                  <a:srgbClr val="BF5722"/>
                </a:solidFill>
                <a:latin typeface="Sarabun" pitchFamily="34" charset="0"/>
                <a:ea typeface="Sarabun" pitchFamily="34" charset="-122"/>
                <a:cs typeface="Sarabun" pitchFamily="34" charset="-120"/>
              </a:rPr>
              <a:t>RECOMMENDATIONS</a:t>
            </a:r>
            <a:endParaRPr lang="en-US" sz="1050" dirty="0"/>
          </a:p>
        </p:txBody>
      </p:sp>
      <p:sp>
        <p:nvSpPr>
          <p:cNvPr id="3" name="Text 1"/>
          <p:cNvSpPr txBox="1"/>
          <p:nvPr/>
        </p:nvSpPr>
        <p:spPr>
          <a:xfrm>
            <a:off x="502920" y="493776"/>
            <a:ext cx="8138160" cy="512064"/>
          </a:xfrm>
          <a:prstGeom prst="rect">
            <a:avLst/>
          </a:prstGeom>
          <a:noFill/>
          <a:ln/>
        </p:spPr>
        <p:txBody>
          <a:bodyPr wrap="square" lIns="0" tIns="0" rIns="0" bIns="0" rtlCol="0" anchor="t"/>
          <a:lstStyle/>
          <a:p>
            <a:pPr indent="0" marL="0">
              <a:buNone/>
            </a:pPr>
            <a:r>
              <a:rPr lang="en-US" sz="2500" b="1" dirty="0">
                <a:solidFill>
                  <a:srgbClr val="2C231C"/>
                </a:solidFill>
                <a:latin typeface="Sarabun" pitchFamily="34" charset="0"/>
                <a:ea typeface="Sarabun" pitchFamily="34" charset="-122"/>
                <a:cs typeface="Sarabun" pitchFamily="34" charset="-120"/>
              </a:rPr>
              <a:t>Four, each addressed to a body that can act</a:t>
            </a:r>
            <a:endParaRPr lang="en-US" sz="2500" dirty="0"/>
          </a:p>
        </p:txBody>
      </p:sp>
      <p:sp>
        <p:nvSpPr>
          <p:cNvPr id="4" name="Text 2"/>
          <p:cNvSpPr txBox="1"/>
          <p:nvPr/>
        </p:nvSpPr>
        <p:spPr>
          <a:xfrm>
            <a:off x="502920" y="1060704"/>
            <a:ext cx="8138160" cy="310896"/>
          </a:xfrm>
          <a:prstGeom prst="rect">
            <a:avLst/>
          </a:prstGeom>
          <a:noFill/>
          <a:ln/>
        </p:spPr>
        <p:txBody>
          <a:bodyPr wrap="square" lIns="0" tIns="0" rIns="0" bIns="0" rtlCol="0" anchor="t"/>
          <a:lstStyle/>
          <a:p>
            <a:pPr indent="0" marL="0">
              <a:buNone/>
            </a:pPr>
            <a:r>
              <a:rPr lang="en-US" sz="1350" b="1" dirty="0">
                <a:solidFill>
                  <a:srgbClr val="2C231C"/>
                </a:solidFill>
                <a:latin typeface="Sarabun" pitchFamily="34" charset="0"/>
                <a:ea typeface="Sarabun" pitchFamily="34" charset="-122"/>
                <a:cs typeface="Sarabun" pitchFamily="34" charset="-120"/>
              </a:rPr>
              <a:t>Same four boxes every time: who does it, what they do, what it should produce, and what limits it.</a:t>
            </a:r>
            <a:endParaRPr lang="en-US" sz="13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408176"/>
          <a:ext cx="8138160" cy="914400"/>
        </p:xfrm>
        <a:graphic>
          <a:graphicData uri="http://schemas.openxmlformats.org/drawingml/2006/table">
            <a:tbl>
              <a:tblPr/>
              <a:tblGrid>
                <a:gridCol w="1554480"/>
                <a:gridCol w="2651760"/>
                <a:gridCol w="2011680"/>
                <a:gridCol w="1920240"/>
              </a:tblGrid>
              <a:tr h="237744">
                <a:tc>
                  <a:txBody>
                    <a:bodyPr/>
                    <a:lstStyle/>
                    <a:p>
                      <a:pPr algn="l" indent="0" marL="0">
                        <a:buNone/>
                      </a:pPr>
                      <a:r>
                        <a:rPr lang="en-US" sz="950" b="1" dirty="0">
                          <a:solidFill>
                            <a:srgbClr val="7C6B5B"/>
                          </a:solidFill>
                          <a:latin typeface="Sarabun" pitchFamily="34" charset="0"/>
                          <a:ea typeface="Sarabun" pitchFamily="34" charset="-122"/>
                          <a:cs typeface="Sarabun" pitchFamily="34" charset="-120"/>
                        </a:rPr>
                        <a:t>PIC</a:t>
                      </a:r>
                      <a:endParaRPr lang="en-US" sz="9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5EDE1"/>
                    </a:solidFill>
                  </a:tcPr>
                </a:tc>
                <a:tc>
                  <a:txBody>
                    <a:bodyPr/>
                    <a:lstStyle/>
                    <a:p>
                      <a:pPr algn="l" indent="0" marL="0">
                        <a:buNone/>
                      </a:pPr>
                      <a:r>
                        <a:rPr lang="en-US" sz="950" b="1" dirty="0">
                          <a:solidFill>
                            <a:srgbClr val="7C6B5B"/>
                          </a:solidFill>
                          <a:latin typeface="Sarabun" pitchFamily="34" charset="0"/>
                          <a:ea typeface="Sarabun" pitchFamily="34" charset="-122"/>
                          <a:cs typeface="Sarabun" pitchFamily="34" charset="-120"/>
                        </a:rPr>
                        <a:t>What to do</a:t>
                      </a:r>
                      <a:endParaRPr lang="en-US" sz="9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5EDE1"/>
                    </a:solidFill>
                  </a:tcPr>
                </a:tc>
                <a:tc>
                  <a:txBody>
                    <a:bodyPr/>
                    <a:lstStyle/>
                    <a:p>
                      <a:pPr algn="l" indent="0" marL="0">
                        <a:buNone/>
                      </a:pPr>
                      <a:r>
                        <a:rPr lang="en-US" sz="950" b="1" dirty="0">
                          <a:solidFill>
                            <a:srgbClr val="7C6B5B"/>
                          </a:solidFill>
                          <a:latin typeface="Sarabun" pitchFamily="34" charset="0"/>
                          <a:ea typeface="Sarabun" pitchFamily="34" charset="-122"/>
                          <a:cs typeface="Sarabun" pitchFamily="34" charset="-120"/>
                        </a:rPr>
                        <a:t>Expected outcome</a:t>
                      </a:r>
                      <a:endParaRPr lang="en-US" sz="9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5EDE1"/>
                    </a:solidFill>
                  </a:tcPr>
                </a:tc>
                <a:tc>
                  <a:txBody>
                    <a:bodyPr/>
                    <a:lstStyle/>
                    <a:p>
                      <a:pPr algn="l" indent="0" marL="0">
                        <a:buNone/>
                      </a:pPr>
                      <a:r>
                        <a:rPr lang="en-US" sz="950" b="1" dirty="0">
                          <a:solidFill>
                            <a:srgbClr val="7C6B5B"/>
                          </a:solidFill>
                          <a:latin typeface="Sarabun" pitchFamily="34" charset="0"/>
                          <a:ea typeface="Sarabun" pitchFamily="34" charset="-122"/>
                          <a:cs typeface="Sarabun" pitchFamily="34" charset="-120"/>
                        </a:rPr>
                        <a:t>Challenge</a:t>
                      </a:r>
                      <a:endParaRPr lang="en-US" sz="9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5EDE1"/>
                    </a:solidFill>
                  </a:tcPr>
                </a:tc>
              </a:tr>
              <a:tr h="731520">
                <a:tc>
                  <a:txBody>
                    <a:bodyPr/>
                    <a:lstStyle/>
                    <a:p>
                      <a:pPr algn="l" indent="0" marL="0">
                        <a:buNone/>
                      </a:pPr>
                      <a:r>
                        <a:rPr lang="en-US" sz="950" b="1" dirty="0">
                          <a:solidFill>
                            <a:srgbClr val="2C231C"/>
                          </a:solidFill>
                          <a:latin typeface="Sarabun" pitchFamily="34" charset="0"/>
                          <a:ea typeface="Sarabun" pitchFamily="34" charset="-122"/>
                          <a:cs typeface="Sarabun" pitchFamily="34" charset="-120"/>
                        </a:rPr>
                        <a:t>CMU CCDC</a:t>
                      </a:r>
                      <a:endParaRPr lang="en-US" sz="950" dirty="0">
                        <a:latin typeface="Sarabun" charset="0"/>
                        <a:ea typeface="Sarabun" charset="0"/>
                        <a:cs typeface="Sarabun" charset="0"/>
                      </a:endParaRPr>
                    </a:p>
                    <a:p>
                      <a:pPr algn="l" indent="0" marL="0">
                        <a:buNone/>
                      </a:pPr>
                      <a:r>
                        <a:rPr lang="en-US" sz="950" b="1" dirty="0">
                          <a:solidFill>
                            <a:srgbClr val="2C231C"/>
                          </a:solidFill>
                          <a:latin typeface="Sarabun" pitchFamily="34" charset="0"/>
                          <a:ea typeface="Sarabun" pitchFamily="34" charset="-122"/>
                          <a:cs typeface="Sarabun" pitchFamily="34" charset="-120"/>
                        </a:rPr>
                        <a:t>and the working group</a:t>
                      </a:r>
                      <a:endParaRPr lang="en-US" sz="9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950" dirty="0">
                          <a:solidFill>
                            <a:srgbClr val="2C231C"/>
                          </a:solidFill>
                          <a:latin typeface="Sarabun" pitchFamily="34" charset="0"/>
                          <a:ea typeface="Sarabun" pitchFamily="34" charset="-122"/>
                          <a:cs typeface="Sarabun" pitchFamily="34" charset="-120"/>
                        </a:rPr>
                        <a:t>Obtain the measured district-level station data that already exists</a:t>
                      </a:r>
                      <a:endParaRPr lang="en-US" sz="9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950" dirty="0">
                          <a:solidFill>
                            <a:srgbClr val="BF5722"/>
                          </a:solidFill>
                          <a:latin typeface="Sarabun" pitchFamily="34" charset="0"/>
                          <a:ea typeface="Sarabun" pitchFamily="34" charset="-122"/>
                          <a:cs typeface="Sarabun" pitchFamily="34" charset="-120"/>
                        </a:rPr>
                        <a:t>Removes the 5.38 bias and the 45 km limit at once</a:t>
                      </a:r>
                      <a:endParaRPr lang="en-US" sz="9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950" dirty="0">
                          <a:solidFill>
                            <a:srgbClr val="2C231C"/>
                          </a:solidFill>
                          <a:latin typeface="Sarabun" pitchFamily="34" charset="0"/>
                          <a:ea typeface="Sarabun" pitchFamily="34" charset="-122"/>
                          <a:cs typeface="Sarabun" pitchFamily="34" charset="-120"/>
                        </a:rPr>
                        <a:t>The data exists. The obstacle is an approval nobody has asked for</a:t>
                      </a:r>
                      <a:endParaRPr lang="en-US" sz="9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r h="731520">
                <a:tc>
                  <a:txBody>
                    <a:bodyPr/>
                    <a:lstStyle/>
                    <a:p>
                      <a:pPr algn="l" indent="0" marL="0">
                        <a:buNone/>
                      </a:pPr>
                      <a:r>
                        <a:rPr lang="en-US" sz="950" b="1" dirty="0">
                          <a:solidFill>
                            <a:srgbClr val="2C231C"/>
                          </a:solidFill>
                          <a:latin typeface="Sarabun" pitchFamily="34" charset="0"/>
                          <a:ea typeface="Sarabun" pitchFamily="34" charset="-122"/>
                          <a:cs typeface="Sarabun" pitchFamily="34" charset="-120"/>
                        </a:rPr>
                        <a:t>Health Center 1</a:t>
                      </a:r>
                      <a:endParaRPr lang="en-US" sz="950" dirty="0">
                        <a:latin typeface="Sarabun" charset="0"/>
                        <a:ea typeface="Sarabun" charset="0"/>
                        <a:cs typeface="Sarabun" charset="0"/>
                      </a:endParaRPr>
                    </a:p>
                    <a:p>
                      <a:pPr algn="l" indent="0" marL="0">
                        <a:buNone/>
                      </a:pPr>
                      <a:r>
                        <a:rPr lang="en-US" sz="950" b="1" dirty="0">
                          <a:solidFill>
                            <a:srgbClr val="2C231C"/>
                          </a:solidFill>
                          <a:latin typeface="Sarabun" pitchFamily="34" charset="0"/>
                          <a:ea typeface="Sarabun" pitchFamily="34" charset="-122"/>
                          <a:cs typeface="Sarabun" pitchFamily="34" charset="-120"/>
                        </a:rPr>
                        <a:t>Chiang Mai</a:t>
                      </a:r>
                      <a:endParaRPr lang="en-US" sz="9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950" dirty="0">
                          <a:solidFill>
                            <a:srgbClr val="2C231C"/>
                          </a:solidFill>
                          <a:latin typeface="Sarabun" pitchFamily="34" charset="0"/>
                          <a:ea typeface="Sarabun" pitchFamily="34" charset="-122"/>
                          <a:cs typeface="Sarabun" pitchFamily="34" charset="-120"/>
                        </a:rPr>
                        <a:t>Publish each evening the probability that tomorrow goes over 37.5, with the miss rate</a:t>
                      </a:r>
                      <a:endParaRPr lang="en-US" sz="9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950" dirty="0">
                          <a:solidFill>
                            <a:srgbClr val="BF5722"/>
                          </a:solidFill>
                          <a:latin typeface="Sarabun" pitchFamily="34" charset="0"/>
                          <a:ea typeface="Sarabun" pitchFamily="34" charset="-122"/>
                          <a:cs typeface="Sarabun" pitchFamily="34" charset="-120"/>
                        </a:rPr>
                        <a:t>Days arriving unwarned fall from 8 to 4 in 454</a:t>
                      </a:r>
                      <a:endParaRPr lang="en-US" sz="9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950" dirty="0">
                          <a:solidFill>
                            <a:srgbClr val="2C231C"/>
                          </a:solidFill>
                          <a:latin typeface="Sarabun" pitchFamily="34" charset="0"/>
                          <a:ea typeface="Sarabun" pitchFamily="34" charset="-122"/>
                          <a:cs typeface="Sarabun" pitchFamily="34" charset="-120"/>
                        </a:rPr>
                        <a:t>Predicts CAMS, not the air, until the data above arrives</a:t>
                      </a:r>
                      <a:endParaRPr lang="en-US" sz="9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r h="731520">
                <a:tc>
                  <a:txBody>
                    <a:bodyPr/>
                    <a:lstStyle/>
                    <a:p>
                      <a:pPr algn="l" indent="0" marL="0">
                        <a:buNone/>
                      </a:pPr>
                      <a:r>
                        <a:rPr lang="en-US" sz="950" b="1" dirty="0">
                          <a:solidFill>
                            <a:srgbClr val="2C231C"/>
                          </a:solidFill>
                          <a:latin typeface="Sarabun" pitchFamily="34" charset="0"/>
                          <a:ea typeface="Sarabun" pitchFamily="34" charset="-122"/>
                          <a:cs typeface="Sarabun" pitchFamily="34" charset="-120"/>
                        </a:rPr>
                        <a:t>Provincial PM2.5</a:t>
                      </a:r>
                      <a:endParaRPr lang="en-US" sz="950" dirty="0">
                        <a:latin typeface="Sarabun" charset="0"/>
                        <a:ea typeface="Sarabun" charset="0"/>
                        <a:cs typeface="Sarabun" charset="0"/>
                      </a:endParaRPr>
                    </a:p>
                    <a:p>
                      <a:pPr algn="l" indent="0" marL="0">
                        <a:buNone/>
                      </a:pPr>
                      <a:r>
                        <a:rPr lang="en-US" sz="950" b="1" dirty="0">
                          <a:solidFill>
                            <a:srgbClr val="2C231C"/>
                          </a:solidFill>
                          <a:latin typeface="Sarabun" pitchFamily="34" charset="0"/>
                          <a:ea typeface="Sarabun" pitchFamily="34" charset="-122"/>
                          <a:cs typeface="Sarabun" pitchFamily="34" charset="-120"/>
                        </a:rPr>
                        <a:t>working group</a:t>
                      </a:r>
                      <a:endParaRPr lang="en-US" sz="9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950" dirty="0">
                          <a:solidFill>
                            <a:srgbClr val="2C231C"/>
                          </a:solidFill>
                          <a:latin typeface="Sarabun" pitchFamily="34" charset="0"/>
                          <a:ea typeface="Sarabun" pitchFamily="34" charset="-122"/>
                          <a:cs typeface="Sarabun" pitchFamily="34" charset="-120"/>
                        </a:rPr>
                        <a:t>Report a burning number and an exposure number side by side</a:t>
                      </a:r>
                      <a:endParaRPr lang="en-US" sz="9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950" dirty="0">
                          <a:solidFill>
                            <a:srgbClr val="BF5722"/>
                          </a:solidFill>
                          <a:latin typeface="Sarabun" pitchFamily="34" charset="0"/>
                          <a:ea typeface="Sarabun" pitchFamily="34" charset="-122"/>
                          <a:cs typeface="Sarabun" pitchFamily="34" charset="-120"/>
                        </a:rPr>
                        <a:t>A bad-burning year can be told from a bad-weather year</a:t>
                      </a:r>
                      <a:endParaRPr lang="en-US" sz="9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950" dirty="0">
                          <a:solidFill>
                            <a:srgbClr val="2C231C"/>
                          </a:solidFill>
                          <a:latin typeface="Sarabun" pitchFamily="34" charset="0"/>
                          <a:ea typeface="Sarabun" pitchFamily="34" charset="-122"/>
                          <a:cs typeface="Sarabun" pitchFamily="34" charset="-120"/>
                        </a:rPr>
                        <a:t>Does not say what the yearly variation does track</a:t>
                      </a:r>
                      <a:endParaRPr lang="en-US" sz="9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r h="731520">
                <a:tc>
                  <a:txBody>
                    <a:bodyPr/>
                    <a:lstStyle/>
                    <a:p>
                      <a:pPr algn="l" indent="0" marL="0">
                        <a:buNone/>
                      </a:pPr>
                      <a:r>
                        <a:rPr lang="en-US" sz="950" b="1" dirty="0">
                          <a:solidFill>
                            <a:srgbClr val="2C231C"/>
                          </a:solidFill>
                          <a:latin typeface="Sarabun" pitchFamily="34" charset="0"/>
                          <a:ea typeface="Sarabun" pitchFamily="34" charset="-122"/>
                          <a:cs typeface="Sarabun" pitchFamily="34" charset="-120"/>
                        </a:rPr>
                        <a:t>Disaster Prevention</a:t>
                      </a:r>
                      <a:endParaRPr lang="en-US" sz="950" dirty="0">
                        <a:latin typeface="Sarabun" charset="0"/>
                        <a:ea typeface="Sarabun" charset="0"/>
                        <a:cs typeface="Sarabun" charset="0"/>
                      </a:endParaRPr>
                    </a:p>
                    <a:p>
                      <a:pPr algn="l" indent="0" marL="0">
                        <a:buNone/>
                      </a:pPr>
                      <a:r>
                        <a:rPr lang="en-US" sz="950" b="1" dirty="0">
                          <a:solidFill>
                            <a:srgbClr val="2C231C"/>
                          </a:solidFill>
                          <a:latin typeface="Sarabun" pitchFamily="34" charset="0"/>
                          <a:ea typeface="Sarabun" pitchFamily="34" charset="-122"/>
                          <a:cs typeface="Sarabun" pitchFamily="34" charset="-120"/>
                        </a:rPr>
                        <a:t>and Mitigation</a:t>
                      </a:r>
                      <a:endParaRPr lang="en-US" sz="9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950" dirty="0">
                          <a:solidFill>
                            <a:srgbClr val="2C231C"/>
                          </a:solidFill>
                          <a:latin typeface="Sarabun" pitchFamily="34" charset="0"/>
                          <a:ea typeface="Sarabun" pitchFamily="34" charset="-122"/>
                          <a:cs typeface="Sarabun" pitchFamily="34" charset="-120"/>
                        </a:rPr>
                        <a:t>Add an air-pollution category to the national relief schedule</a:t>
                      </a:r>
                      <a:endParaRPr lang="en-US" sz="9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950" dirty="0">
                          <a:solidFill>
                            <a:srgbClr val="BF5722"/>
                          </a:solidFill>
                          <a:latin typeface="Sarabun" pitchFamily="34" charset="0"/>
                          <a:ea typeface="Sarabun" pitchFamily="34" charset="-122"/>
                          <a:cs typeface="Sarabun" pitchFamily="34" charset="-120"/>
                        </a:rPr>
                        <a:t>Relief triggers on exposure, not on catastrophe</a:t>
                      </a:r>
                      <a:endParaRPr lang="en-US" sz="9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950" dirty="0">
                          <a:solidFill>
                            <a:srgbClr val="2C231C"/>
                          </a:solidFill>
                          <a:latin typeface="Sarabun" pitchFamily="34" charset="0"/>
                          <a:ea typeface="Sarabun" pitchFamily="34" charset="-122"/>
                          <a:cs typeface="Sarabun" pitchFamily="34" charset="-120"/>
                        </a:rPr>
                        <a:t>Only the exposure counts come from this work</a:t>
                      </a:r>
                      <a:endParaRPr lang="en-US" sz="9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bl>
          </a:graphicData>
        </a:graphic>
      </p:graphicFrame>
      <p:sp>
        <p:nvSpPr>
          <p:cNvPr id="6" name="Text 3"/>
          <p:cNvSpPr txBox="1"/>
          <p:nvPr/>
        </p:nvSpPr>
        <p:spPr>
          <a:xfrm>
            <a:off x="502920" y="4590288"/>
            <a:ext cx="8138160" cy="365760"/>
          </a:xfrm>
          <a:prstGeom prst="rect">
            <a:avLst/>
          </a:prstGeom>
          <a:noFill/>
          <a:ln/>
        </p:spPr>
        <p:txBody>
          <a:bodyPr wrap="square" lIns="0" tIns="0" rIns="0" bIns="0" rtlCol="0" anchor="ctr"/>
          <a:lstStyle/>
          <a:p>
            <a:pPr indent="0" marL="0">
              <a:buNone/>
            </a:pPr>
            <a:r>
              <a:rPr lang="en-US" sz="1000" i="1" dirty="0">
                <a:solidFill>
                  <a:srgbClr val="7C6B5B"/>
                </a:solidFill>
                <a:latin typeface="Sarabun" pitchFamily="34" charset="0"/>
                <a:ea typeface="Sarabun" pitchFamily="34" charset="-122"/>
                <a:cs typeface="Sarabun" pitchFamily="34" charset="-120"/>
              </a:rPr>
              <a:t>The first one is not a caveat moved to the front. Three of the six checkpoints point at it, and the other three recommendations are waiting on it.</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A"/>
        </a:solidFill>
      </p:bgPr>
    </p:bg>
    <p:spTree>
      <p:nvGrpSpPr>
        <p:cNvPr id="1" name=""/>
        <p:cNvGrpSpPr/>
        <p:nvPr/>
      </p:nvGrpSpPr>
      <p:grpSpPr>
        <a:xfrm>
          <a:off x="0" y="0"/>
          <a:ext cx="0" cy="0"/>
          <a:chOff x="0" y="0"/>
          <a:chExt cx="0" cy="0"/>
        </a:xfrm>
      </p:grpSpPr>
      <p:sp>
        <p:nvSpPr>
          <p:cNvPr id="2" name="Text 0"/>
          <p:cNvSpPr txBox="1"/>
          <p:nvPr/>
        </p:nvSpPr>
        <p:spPr>
          <a:xfrm>
            <a:off x="502920" y="274320"/>
            <a:ext cx="8138160" cy="201168"/>
          </a:xfrm>
          <a:prstGeom prst="rect">
            <a:avLst/>
          </a:prstGeom>
          <a:noFill/>
          <a:ln/>
        </p:spPr>
        <p:txBody>
          <a:bodyPr wrap="square" lIns="0" tIns="0" rIns="0" bIns="0" rtlCol="0" anchor="ctr"/>
          <a:lstStyle/>
          <a:p>
            <a:pPr indent="0" marL="0">
              <a:buNone/>
            </a:pPr>
            <a:r>
              <a:rPr lang="en-US" sz="1050" b="1" spc="160" kern="0" dirty="0">
                <a:solidFill>
                  <a:srgbClr val="BF5722"/>
                </a:solidFill>
                <a:latin typeface="Sarabun" pitchFamily="34" charset="0"/>
                <a:ea typeface="Sarabun" pitchFamily="34" charset="-122"/>
                <a:cs typeface="Sarabun" pitchFamily="34" charset="-120"/>
              </a:rPr>
              <a:t>HONESTY</a:t>
            </a:r>
            <a:endParaRPr lang="en-US" sz="1050" dirty="0"/>
          </a:p>
        </p:txBody>
      </p:sp>
      <p:sp>
        <p:nvSpPr>
          <p:cNvPr id="3" name="Text 1"/>
          <p:cNvSpPr txBox="1"/>
          <p:nvPr/>
        </p:nvSpPr>
        <p:spPr>
          <a:xfrm>
            <a:off x="502920" y="493776"/>
            <a:ext cx="8138160" cy="512064"/>
          </a:xfrm>
          <a:prstGeom prst="rect">
            <a:avLst/>
          </a:prstGeom>
          <a:noFill/>
          <a:ln/>
        </p:spPr>
        <p:txBody>
          <a:bodyPr wrap="square" lIns="0" tIns="0" rIns="0" bIns="0" rtlCol="0" anchor="t"/>
          <a:lstStyle/>
          <a:p>
            <a:pPr indent="0" marL="0">
              <a:buNone/>
            </a:pPr>
            <a:r>
              <a:rPr lang="en-US" sz="2500" b="1" dirty="0">
                <a:solidFill>
                  <a:srgbClr val="2C231C"/>
                </a:solidFill>
                <a:latin typeface="Sarabun" pitchFamily="34" charset="0"/>
                <a:ea typeface="Sarabun" pitchFamily="34" charset="-122"/>
                <a:cs typeface="Sarabun" pitchFamily="34" charset="-120"/>
              </a:rPr>
              <a:t>What this analysis does not support</a:t>
            </a:r>
            <a:endParaRPr lang="en-US" sz="2500" dirty="0"/>
          </a:p>
        </p:txBody>
      </p:sp>
      <p:sp>
        <p:nvSpPr>
          <p:cNvPr id="4" name="Text 2"/>
          <p:cNvSpPr txBox="1"/>
          <p:nvPr/>
        </p:nvSpPr>
        <p:spPr>
          <a:xfrm>
            <a:off x="502920" y="1060704"/>
            <a:ext cx="8138160" cy="310896"/>
          </a:xfrm>
          <a:prstGeom prst="rect">
            <a:avLst/>
          </a:prstGeom>
          <a:noFill/>
          <a:ln/>
        </p:spPr>
        <p:txBody>
          <a:bodyPr wrap="square" lIns="0" tIns="0" rIns="0" bIns="0" rtlCol="0" anchor="t"/>
          <a:lstStyle/>
          <a:p>
            <a:pPr indent="0" marL="0">
              <a:buNone/>
            </a:pPr>
            <a:r>
              <a:rPr lang="en-US" sz="1350" b="1" dirty="0">
                <a:solidFill>
                  <a:srgbClr val="2C231C"/>
                </a:solidFill>
                <a:latin typeface="Sarabun" pitchFamily="34" charset="0"/>
                <a:ea typeface="Sarabun" pitchFamily="34" charset="-122"/>
                <a:cs typeface="Sarabun" pitchFamily="34" charset="-120"/>
              </a:rPr>
              <a:t>I would rather say these myself than be asked.</a:t>
            </a:r>
            <a:endParaRPr lang="en-US" sz="13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517904"/>
          <a:ext cx="8138160" cy="914400"/>
        </p:xfrm>
        <a:graphic>
          <a:graphicData uri="http://schemas.openxmlformats.org/drawingml/2006/table">
            <a:tbl>
              <a:tblPr/>
              <a:tblGrid>
                <a:gridCol w="3383280"/>
                <a:gridCol w="4754880"/>
              </a:tblGrid>
              <a:tr h="347472">
                <a:tc>
                  <a:txBody>
                    <a:bodyPr/>
                    <a:lstStyle/>
                    <a:p>
                      <a:pPr algn="l" indent="0" marL="0">
                        <a:buNone/>
                      </a:pPr>
                      <a:r>
                        <a:rPr lang="en-US" sz="1150" b="1" dirty="0">
                          <a:solidFill>
                            <a:srgbClr val="7C6B5B"/>
                          </a:solidFill>
                          <a:latin typeface="Sarabun" pitchFamily="34" charset="0"/>
                          <a:ea typeface="Sarabun" pitchFamily="34" charset="-122"/>
                          <a:cs typeface="Sarabun" pitchFamily="34" charset="-120"/>
                        </a:rPr>
                        <a:t>This does not support</a:t>
                      </a:r>
                      <a:endParaRPr lang="en-US" sz="11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5EDE1"/>
                    </a:solidFill>
                  </a:tcPr>
                </a:tc>
                <a:tc>
                  <a:txBody>
                    <a:bodyPr/>
                    <a:lstStyle/>
                    <a:p>
                      <a:pPr algn="l" indent="0" marL="0">
                        <a:buNone/>
                      </a:pPr>
                      <a:r>
                        <a:rPr lang="en-US" sz="1150" b="1" dirty="0">
                          <a:solidFill>
                            <a:srgbClr val="7C6B5B"/>
                          </a:solidFill>
                          <a:latin typeface="Sarabun" pitchFamily="34" charset="0"/>
                          <a:ea typeface="Sarabun" pitchFamily="34" charset="-122"/>
                          <a:cs typeface="Sarabun" pitchFamily="34" charset="-120"/>
                        </a:rPr>
                        <a:t>Why</a:t>
                      </a:r>
                      <a:endParaRPr lang="en-US" sz="11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5EDE1"/>
                    </a:solidFill>
                  </a:tcPr>
                </a:tc>
              </a:tr>
              <a:tr h="347472">
                <a:tc>
                  <a:txBody>
                    <a:bodyPr/>
                    <a:lstStyle/>
                    <a:p>
                      <a:pPr algn="l" indent="0" marL="0">
                        <a:buNone/>
                      </a:pPr>
                      <a:r>
                        <a:rPr lang="en-US" sz="1150" b="1" dirty="0">
                          <a:solidFill>
                            <a:srgbClr val="2C231C"/>
                          </a:solidFill>
                          <a:latin typeface="Sarabun" pitchFamily="34" charset="0"/>
                          <a:ea typeface="Sarabun" pitchFamily="34" charset="-122"/>
                          <a:cs typeface="Sarabun" pitchFamily="34" charset="-120"/>
                        </a:rPr>
                        <a:t>The true number of exceedance days</a:t>
                      </a:r>
                      <a:endParaRPr lang="en-US" sz="11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150" dirty="0">
                          <a:solidFill>
                            <a:srgbClr val="2C231C"/>
                          </a:solidFill>
                          <a:latin typeface="Sarabun" pitchFamily="34" charset="0"/>
                          <a:ea typeface="Sarabun" pitchFamily="34" charset="-122"/>
                          <a:cs typeface="Sarabun" pitchFamily="34" charset="-120"/>
                        </a:rPr>
                        <a:t>Every count is CAMS's, and CAMS reads low</a:t>
                      </a:r>
                      <a:endParaRPr lang="en-US" sz="11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r h="347472">
                <a:tc>
                  <a:txBody>
                    <a:bodyPr/>
                    <a:lstStyle/>
                    <a:p>
                      <a:pPr algn="l" indent="0" marL="0">
                        <a:buNone/>
                      </a:pPr>
                      <a:r>
                        <a:rPr lang="en-US" sz="1150" b="1" dirty="0">
                          <a:solidFill>
                            <a:srgbClr val="2C231C"/>
                          </a:solidFill>
                          <a:latin typeface="Sarabun" pitchFamily="34" charset="0"/>
                          <a:ea typeface="Sarabun" pitchFamily="34" charset="-122"/>
                          <a:cs typeface="Sarabun" pitchFamily="34" charset="-120"/>
                        </a:rPr>
                        <a:t>Any trend</a:t>
                      </a:r>
                      <a:endParaRPr lang="en-US" sz="11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150" dirty="0">
                          <a:solidFill>
                            <a:srgbClr val="2C231C"/>
                          </a:solidFill>
                          <a:latin typeface="Sarabun" pitchFamily="34" charset="0"/>
                          <a:ea typeface="Sarabun" pitchFamily="34" charset="-122"/>
                          <a:cs typeface="Sarabun" pitchFamily="34" charset="-120"/>
                        </a:rPr>
                        <a:t>Four years, one of them incomplete</a:t>
                      </a:r>
                      <a:endParaRPr lang="en-US" sz="11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r h="347472">
                <a:tc>
                  <a:txBody>
                    <a:bodyPr/>
                    <a:lstStyle/>
                    <a:p>
                      <a:pPr algn="l" indent="0" marL="0">
                        <a:buNone/>
                      </a:pPr>
                      <a:r>
                        <a:rPr lang="en-US" sz="1150" b="1" dirty="0">
                          <a:solidFill>
                            <a:srgbClr val="2C231C"/>
                          </a:solidFill>
                          <a:latin typeface="Sarabun" pitchFamily="34" charset="0"/>
                          <a:ea typeface="Sarabun" pitchFamily="34" charset="-122"/>
                          <a:cs typeface="Sarabun" pitchFamily="34" charset="-120"/>
                        </a:rPr>
                        <a:t>Seasonal forecasting</a:t>
                      </a:r>
                      <a:endParaRPr lang="en-US" sz="11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150" dirty="0">
                          <a:solidFill>
                            <a:srgbClr val="2C231C"/>
                          </a:solidFill>
                          <a:latin typeface="Sarabun" pitchFamily="34" charset="0"/>
                          <a:ea typeface="Sarabun" pitchFamily="34" charset="-122"/>
                          <a:cs typeface="Sarabun" pitchFamily="34" charset="-120"/>
                        </a:rPr>
                        <a:t>Four burning seasons cannot validate a model of next year</a:t>
                      </a:r>
                      <a:endParaRPr lang="en-US" sz="11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r h="347472">
                <a:tc>
                  <a:txBody>
                    <a:bodyPr/>
                    <a:lstStyle/>
                    <a:p>
                      <a:pPr algn="l" indent="0" marL="0">
                        <a:buNone/>
                      </a:pPr>
                      <a:r>
                        <a:rPr lang="en-US" sz="1150" b="1" dirty="0">
                          <a:solidFill>
                            <a:srgbClr val="2C231C"/>
                          </a:solidFill>
                          <a:latin typeface="Sarabun" pitchFamily="34" charset="0"/>
                          <a:ea typeface="Sarabun" pitchFamily="34" charset="-122"/>
                          <a:cs typeface="Sarabun" pitchFamily="34" charset="-120"/>
                        </a:rPr>
                        <a:t>City versus countryside in Chiang Mai</a:t>
                      </a:r>
                      <a:endParaRPr lang="en-US" sz="11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150" dirty="0">
                          <a:solidFill>
                            <a:srgbClr val="2C231C"/>
                          </a:solidFill>
                          <a:latin typeface="Sarabun" pitchFamily="34" charset="0"/>
                          <a:ea typeface="Sarabun" pitchFamily="34" charset="-122"/>
                          <a:cs typeface="Sarabun" pitchFamily="34" charset="-120"/>
                        </a:rPr>
                        <a:t>The grid is 45 km, wider than the difference</a:t>
                      </a:r>
                      <a:endParaRPr lang="en-US" sz="11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r h="347472">
                <a:tc>
                  <a:txBody>
                    <a:bodyPr/>
                    <a:lstStyle/>
                    <a:p>
                      <a:pPr algn="l" indent="0" marL="0">
                        <a:buNone/>
                      </a:pPr>
                      <a:r>
                        <a:rPr lang="en-US" sz="1150" b="1" dirty="0">
                          <a:solidFill>
                            <a:srgbClr val="2C231C"/>
                          </a:solidFill>
                          <a:latin typeface="Sarabun" pitchFamily="34" charset="0"/>
                          <a:ea typeface="Sarabun" pitchFamily="34" charset="-122"/>
                          <a:cs typeface="Sarabun" pitchFamily="34" charset="-120"/>
                        </a:rPr>
                        <a:t>Causation</a:t>
                      </a:r>
                      <a:endParaRPr lang="en-US" sz="11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150" dirty="0">
                          <a:solidFill>
                            <a:srgbClr val="2C231C"/>
                          </a:solidFill>
                          <a:latin typeface="Sarabun" pitchFamily="34" charset="0"/>
                          <a:ea typeface="Sarabun" pitchFamily="34" charset="-122"/>
                          <a:cs typeface="Sarabun" pitchFamily="34" charset="-120"/>
                        </a:rPr>
                        <a:t>Fires near a place do not prove those fires made its smoke</a:t>
                      </a:r>
                      <a:endParaRPr lang="en-US" sz="11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r h="347472">
                <a:tc>
                  <a:txBody>
                    <a:bodyPr/>
                    <a:lstStyle/>
                    <a:p>
                      <a:pPr algn="l" indent="0" marL="0">
                        <a:buNone/>
                      </a:pPr>
                      <a:r>
                        <a:rPr lang="en-US" sz="1150" b="1" dirty="0">
                          <a:solidFill>
                            <a:srgbClr val="2C231C"/>
                          </a:solidFill>
                          <a:latin typeface="Sarabun" pitchFamily="34" charset="0"/>
                          <a:ea typeface="Sarabun" pitchFamily="34" charset="-122"/>
                          <a:cs typeface="Sarabun" pitchFamily="34" charset="-120"/>
                        </a:rPr>
                        <a:t>Whether the burning ban worked</a:t>
                      </a:r>
                      <a:endParaRPr lang="en-US" sz="11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c>
                  <a:txBody>
                    <a:bodyPr/>
                    <a:lstStyle/>
                    <a:p>
                      <a:pPr algn="l" indent="0" marL="0">
                        <a:buNone/>
                      </a:pPr>
                      <a:r>
                        <a:rPr lang="en-US" sz="1150" dirty="0">
                          <a:solidFill>
                            <a:srgbClr val="2C231C"/>
                          </a:solidFill>
                          <a:latin typeface="Sarabun" pitchFamily="34" charset="0"/>
                          <a:ea typeface="Sarabun" pitchFamily="34" charset="-122"/>
                          <a:cs typeface="Sarabun" pitchFamily="34" charset="-120"/>
                        </a:rPr>
                        <a:t>That needs enforcement records and a comparison group</a:t>
                      </a:r>
                      <a:endParaRPr lang="en-US" sz="1150" dirty="0">
                        <a:latin typeface="Sarabun" charset="0"/>
                        <a:ea typeface="Sarabun" charset="0"/>
                        <a:cs typeface="Sarabun" charset="0"/>
                      </a:endParaRPr>
                    </a:p>
                  </a:txBody>
                  <a:tcPr marL="101600" marR="101600" marT="50800" marB="50800" anchor="ctr">
                    <a:lnL w="12700" cap="flat" cmpd="sng" algn="ctr">
                      <a:solidFill>
                        <a:srgbClr val="E3D8C8"/>
                      </a:solidFill>
                      <a:prstDash val="solid"/>
                      <a:round/>
                      <a:headEnd type="none" w="med" len="med"/>
                      <a:tailEnd type="none" w="med" len="med"/>
                    </a:lnL>
                    <a:lnR w="12700" cap="flat" cmpd="sng" algn="ctr">
                      <a:solidFill>
                        <a:srgbClr val="E3D8C8"/>
                      </a:solidFill>
                      <a:prstDash val="solid"/>
                      <a:round/>
                      <a:headEnd type="none" w="med" len="med"/>
                      <a:tailEnd type="none" w="med" len="med"/>
                    </a:lnR>
                    <a:lnT w="12700" cap="flat" cmpd="sng" algn="ctr">
                      <a:solidFill>
                        <a:srgbClr val="E3D8C8"/>
                      </a:solidFill>
                      <a:prstDash val="solid"/>
                      <a:round/>
                      <a:headEnd type="none" w="med" len="med"/>
                      <a:tailEnd type="none" w="med" len="med"/>
                    </a:lnT>
                    <a:lnB w="12700" cap="flat" cmpd="sng" algn="ctr">
                      <a:solidFill>
                        <a:srgbClr val="E3D8C8"/>
                      </a:solidFill>
                      <a:prstDash val="solid"/>
                      <a:round/>
                      <a:headEnd type="none" w="med" len="med"/>
                      <a:tailEnd type="none" w="med" len="med"/>
                    </a:lnB>
                    <a:solidFill>
                      <a:srgbClr val="FFFDFA"/>
                    </a:solidFill>
                  </a:tcPr>
                </a:tc>
              </a:tr>
            </a:tbl>
          </a:graphicData>
        </a:graphic>
      </p:graphicFrame>
      <p:sp>
        <p:nvSpPr>
          <p:cNvPr id="6" name="Shape 3"/>
          <p:cNvSpPr/>
          <p:nvPr/>
        </p:nvSpPr>
        <p:spPr>
          <a:xfrm>
            <a:off x="502920" y="4041648"/>
            <a:ext cx="8138160" cy="658368"/>
          </a:xfrm>
          <a:prstGeom prst="roundRect">
            <a:avLst>
              <a:gd name="adj" fmla="val 11111"/>
            </a:avLst>
          </a:prstGeom>
          <a:solidFill>
            <a:srgbClr val="FBE8D8"/>
          </a:solidFill>
          <a:ln w="12700">
            <a:solidFill>
              <a:srgbClr val="FBE8D8"/>
            </a:solidFill>
            <a:prstDash val="solid"/>
          </a:ln>
        </p:spPr>
      </p:sp>
      <p:sp>
        <p:nvSpPr>
          <p:cNvPr id="7" name="Text 4"/>
          <p:cNvSpPr txBox="1"/>
          <p:nvPr/>
        </p:nvSpPr>
        <p:spPr>
          <a:xfrm>
            <a:off x="758952" y="4133088"/>
            <a:ext cx="7626096" cy="493776"/>
          </a:xfrm>
          <a:prstGeom prst="rect">
            <a:avLst/>
          </a:prstGeom>
          <a:noFill/>
          <a:ln/>
        </p:spPr>
        <p:txBody>
          <a:bodyPr wrap="square" lIns="0" tIns="0" rIns="0" bIns="0" rtlCol="0" anchor="ctr"/>
          <a:lstStyle/>
          <a:p>
            <a:pPr indent="0" marL="0">
              <a:buNone/>
            </a:pPr>
            <a:r>
              <a:rPr lang="en-US" sz="1150" b="1" dirty="0">
                <a:solidFill>
                  <a:srgbClr val="2C231C"/>
                </a:solidFill>
                <a:latin typeface="Sarabun" pitchFamily="34" charset="0"/>
                <a:ea typeface="Sarabun" pitchFamily="34" charset="-122"/>
                <a:cs typeface="Sarabun" pitchFamily="34" charset="-120"/>
              </a:rPr>
              <a:t>The one thing that would fix the most: five years of MEASURED station data from the CMU DustBoy network. It removes the model-versus-instrument problem and the resolution problem at the same time.</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A2018"/>
        </a:solidFill>
      </p:bgPr>
    </p:bg>
    <p:spTree>
      <p:nvGrpSpPr>
        <p:cNvPr id="1" name=""/>
        <p:cNvGrpSpPr/>
        <p:nvPr/>
      </p:nvGrpSpPr>
      <p:grpSpPr>
        <a:xfrm>
          <a:off x="0" y="0"/>
          <a:ext cx="0" cy="0"/>
          <a:chOff x="0" y="0"/>
          <a:chExt cx="0" cy="0"/>
        </a:xfrm>
      </p:grpSpPr>
      <p:sp>
        <p:nvSpPr>
          <p:cNvPr id="2" name="Text 0"/>
          <p:cNvSpPr txBox="1"/>
          <p:nvPr/>
        </p:nvSpPr>
        <p:spPr>
          <a:xfrm>
            <a:off x="502920" y="777240"/>
            <a:ext cx="8138160" cy="411480"/>
          </a:xfrm>
          <a:prstGeom prst="rect">
            <a:avLst/>
          </a:prstGeom>
          <a:noFill/>
          <a:ln/>
        </p:spPr>
        <p:txBody>
          <a:bodyPr wrap="square" lIns="0" tIns="0" rIns="0" bIns="0" rtlCol="0" anchor="ctr"/>
          <a:lstStyle/>
          <a:p>
            <a:pPr indent="0" marL="0">
              <a:buNone/>
            </a:pPr>
            <a:r>
              <a:rPr lang="en-US" sz="1250" b="1" spc="140" kern="0" dirty="0">
                <a:solidFill>
                  <a:srgbClr val="E9A56B"/>
                </a:solidFill>
                <a:latin typeface="Sarabun" pitchFamily="34" charset="0"/>
                <a:ea typeface="Sarabun" pitchFamily="34" charset="-122"/>
                <a:cs typeface="Sarabun" pitchFamily="34" charset="-120"/>
              </a:rPr>
              <a:t>What I would want you to remember</a:t>
            </a:r>
            <a:endParaRPr lang="en-US" sz="1250" dirty="0"/>
          </a:p>
        </p:txBody>
      </p:sp>
      <p:sp>
        <p:nvSpPr>
          <p:cNvPr id="3" name="Text 1"/>
          <p:cNvSpPr txBox="1"/>
          <p:nvPr/>
        </p:nvSpPr>
        <p:spPr>
          <a:xfrm>
            <a:off x="502920" y="1371600"/>
            <a:ext cx="5486400" cy="329184"/>
          </a:xfrm>
          <a:prstGeom prst="rect">
            <a:avLst/>
          </a:prstGeom>
          <a:noFill/>
          <a:ln/>
        </p:spPr>
        <p:txBody>
          <a:bodyPr wrap="square" lIns="0" tIns="0" rIns="0" bIns="0" rtlCol="0" anchor="ctr"/>
          <a:lstStyle/>
          <a:p>
            <a:pPr indent="0" marL="0">
              <a:buNone/>
            </a:pPr>
            <a:r>
              <a:rPr lang="en-US" sz="1450" b="1" dirty="0">
                <a:solidFill>
                  <a:srgbClr val="FFFDFA"/>
                </a:solidFill>
                <a:latin typeface="Sarabun" pitchFamily="34" charset="0"/>
                <a:ea typeface="Sarabun" pitchFamily="34" charset="-122"/>
                <a:cs typeface="Sarabun" pitchFamily="34" charset="-120"/>
              </a:rPr>
              <a:t>The data turned out to be a model, so I measured how wrong it was</a:t>
            </a:r>
            <a:endParaRPr lang="en-US" sz="1450" dirty="0"/>
          </a:p>
        </p:txBody>
      </p:sp>
      <p:sp>
        <p:nvSpPr>
          <p:cNvPr id="4" name="Text 2"/>
          <p:cNvSpPr txBox="1"/>
          <p:nvPr/>
        </p:nvSpPr>
        <p:spPr>
          <a:xfrm>
            <a:off x="6080760" y="1399032"/>
            <a:ext cx="2560320" cy="292608"/>
          </a:xfrm>
          <a:prstGeom prst="rect">
            <a:avLst/>
          </a:prstGeom>
          <a:noFill/>
          <a:ln/>
        </p:spPr>
        <p:txBody>
          <a:bodyPr wrap="square" lIns="0" tIns="0" rIns="0" bIns="0" rtlCol="0" anchor="ctr"/>
          <a:lstStyle/>
          <a:p>
            <a:pPr algn="r" indent="0" marL="0">
              <a:buNone/>
            </a:pPr>
            <a:r>
              <a:rPr lang="en-US" sz="1150" dirty="0">
                <a:solidFill>
                  <a:srgbClr val="E9A56B"/>
                </a:solidFill>
                <a:latin typeface="Sarabun" pitchFamily="34" charset="0"/>
                <a:ea typeface="Sarabun" pitchFamily="34" charset="-122"/>
                <a:cs typeface="Sarabun" pitchFamily="34" charset="-120"/>
              </a:rPr>
              <a:t>-5.38, low at 14 of 14 stations</a:t>
            </a:r>
            <a:endParaRPr lang="en-US" sz="1150" dirty="0"/>
          </a:p>
        </p:txBody>
      </p:sp>
      <p:sp>
        <p:nvSpPr>
          <p:cNvPr id="5" name="Text 3"/>
          <p:cNvSpPr txBox="1"/>
          <p:nvPr/>
        </p:nvSpPr>
        <p:spPr>
          <a:xfrm>
            <a:off x="502920" y="2084832"/>
            <a:ext cx="5486400" cy="329184"/>
          </a:xfrm>
          <a:prstGeom prst="rect">
            <a:avLst/>
          </a:prstGeom>
          <a:noFill/>
          <a:ln/>
        </p:spPr>
        <p:txBody>
          <a:bodyPr wrap="square" lIns="0" tIns="0" rIns="0" bIns="0" rtlCol="0" anchor="ctr"/>
          <a:lstStyle/>
          <a:p>
            <a:pPr indent="0" marL="0">
              <a:buNone/>
            </a:pPr>
            <a:r>
              <a:rPr lang="en-US" sz="1450" b="1" dirty="0">
                <a:solidFill>
                  <a:srgbClr val="FFFDFA"/>
                </a:solidFill>
                <a:latin typeface="Sarabun" pitchFamily="34" charset="0"/>
                <a:ea typeface="Sarabun" pitchFamily="34" charset="-122"/>
                <a:cs typeface="Sarabun" pitchFamily="34" charset="-120"/>
              </a:rPr>
              <a:t>Two points 12 km apart were the same data</a:t>
            </a:r>
            <a:endParaRPr lang="en-US" sz="1450" dirty="0"/>
          </a:p>
        </p:txBody>
      </p:sp>
      <p:sp>
        <p:nvSpPr>
          <p:cNvPr id="6" name="Text 4"/>
          <p:cNvSpPr txBox="1"/>
          <p:nvPr/>
        </p:nvSpPr>
        <p:spPr>
          <a:xfrm>
            <a:off x="6080760" y="2112264"/>
            <a:ext cx="2560320" cy="292608"/>
          </a:xfrm>
          <a:prstGeom prst="rect">
            <a:avLst/>
          </a:prstGeom>
          <a:noFill/>
          <a:ln/>
        </p:spPr>
        <p:txBody>
          <a:bodyPr wrap="square" lIns="0" tIns="0" rIns="0" bIns="0" rtlCol="0" anchor="ctr"/>
          <a:lstStyle/>
          <a:p>
            <a:pPr algn="r" indent="0" marL="0">
              <a:buNone/>
            </a:pPr>
            <a:r>
              <a:rPr lang="en-US" sz="1150" dirty="0">
                <a:solidFill>
                  <a:srgbClr val="E9A56B"/>
                </a:solidFill>
                <a:latin typeface="Sarabun" pitchFamily="34" charset="0"/>
                <a:ea typeface="Sarabun" pitchFamily="34" charset="-122"/>
                <a:cs typeface="Sarabun" pitchFamily="34" charset="-120"/>
              </a:rPr>
              <a:t>and the API said otherwise</a:t>
            </a:r>
            <a:endParaRPr lang="en-US" sz="1150" dirty="0"/>
          </a:p>
        </p:txBody>
      </p:sp>
      <p:sp>
        <p:nvSpPr>
          <p:cNvPr id="7" name="Text 5"/>
          <p:cNvSpPr txBox="1"/>
          <p:nvPr/>
        </p:nvSpPr>
        <p:spPr>
          <a:xfrm>
            <a:off x="502920" y="2798064"/>
            <a:ext cx="5486400" cy="329184"/>
          </a:xfrm>
          <a:prstGeom prst="rect">
            <a:avLst/>
          </a:prstGeom>
          <a:noFill/>
          <a:ln/>
        </p:spPr>
        <p:txBody>
          <a:bodyPr wrap="square" lIns="0" tIns="0" rIns="0" bIns="0" rtlCol="0" anchor="ctr"/>
          <a:lstStyle/>
          <a:p>
            <a:pPr indent="0" marL="0">
              <a:buNone/>
            </a:pPr>
            <a:r>
              <a:rPr lang="en-US" sz="1450" b="1" dirty="0">
                <a:solidFill>
                  <a:srgbClr val="FFFDFA"/>
                </a:solidFill>
                <a:latin typeface="Sarabun" pitchFamily="34" charset="0"/>
                <a:ea typeface="Sarabun" pitchFamily="34" charset="-122"/>
                <a:cs typeface="Sarabun" pitchFamily="34" charset="-120"/>
              </a:rPr>
              <a:t>The model loses on average and wins where it counts</a:t>
            </a:r>
            <a:endParaRPr lang="en-US" sz="1450" dirty="0"/>
          </a:p>
        </p:txBody>
      </p:sp>
      <p:sp>
        <p:nvSpPr>
          <p:cNvPr id="8" name="Text 6"/>
          <p:cNvSpPr txBox="1"/>
          <p:nvPr/>
        </p:nvSpPr>
        <p:spPr>
          <a:xfrm>
            <a:off x="6080760" y="2825496"/>
            <a:ext cx="2560320" cy="292608"/>
          </a:xfrm>
          <a:prstGeom prst="rect">
            <a:avLst/>
          </a:prstGeom>
          <a:noFill/>
          <a:ln/>
        </p:spPr>
        <p:txBody>
          <a:bodyPr wrap="square" lIns="0" tIns="0" rIns="0" bIns="0" rtlCol="0" anchor="ctr"/>
          <a:lstStyle/>
          <a:p>
            <a:pPr algn="r" indent="0" marL="0">
              <a:buNone/>
            </a:pPr>
            <a:r>
              <a:rPr lang="en-US" sz="1150" dirty="0">
                <a:solidFill>
                  <a:srgbClr val="E9A56B"/>
                </a:solidFill>
                <a:latin typeface="Sarabun" pitchFamily="34" charset="0"/>
                <a:ea typeface="Sarabun" pitchFamily="34" charset="-122"/>
                <a:cs typeface="Sarabun" pitchFamily="34" charset="-120"/>
              </a:rPr>
              <a:t>14.1 to 11.8 on the days that change</a:t>
            </a:r>
            <a:endParaRPr lang="en-US" sz="1150" dirty="0"/>
          </a:p>
        </p:txBody>
      </p:sp>
      <p:sp>
        <p:nvSpPr>
          <p:cNvPr id="9" name="Text 7"/>
          <p:cNvSpPr txBox="1"/>
          <p:nvPr/>
        </p:nvSpPr>
        <p:spPr>
          <a:xfrm>
            <a:off x="502920" y="3511296"/>
            <a:ext cx="5486400" cy="329184"/>
          </a:xfrm>
          <a:prstGeom prst="rect">
            <a:avLst/>
          </a:prstGeom>
          <a:noFill/>
          <a:ln/>
        </p:spPr>
        <p:txBody>
          <a:bodyPr wrap="square" lIns="0" tIns="0" rIns="0" bIns="0" rtlCol="0" anchor="ctr"/>
          <a:lstStyle/>
          <a:p>
            <a:pPr indent="0" marL="0">
              <a:buNone/>
            </a:pPr>
            <a:r>
              <a:rPr lang="en-US" sz="1450" b="1" dirty="0">
                <a:solidFill>
                  <a:srgbClr val="FFFDFA"/>
                </a:solidFill>
                <a:latin typeface="Sarabun" pitchFamily="34" charset="0"/>
                <a:ea typeface="Sarabun" pitchFamily="34" charset="-122"/>
                <a:cs typeface="Sarabun" pitchFamily="34" charset="-120"/>
              </a:rPr>
              <a:t>The number the province is judged by tracks the weather</a:t>
            </a:r>
            <a:endParaRPr lang="en-US" sz="1450" dirty="0"/>
          </a:p>
        </p:txBody>
      </p:sp>
      <p:sp>
        <p:nvSpPr>
          <p:cNvPr id="10" name="Text 8"/>
          <p:cNvSpPr txBox="1"/>
          <p:nvPr/>
        </p:nvSpPr>
        <p:spPr>
          <a:xfrm>
            <a:off x="6080760" y="3538728"/>
            <a:ext cx="2560320" cy="292608"/>
          </a:xfrm>
          <a:prstGeom prst="rect">
            <a:avLst/>
          </a:prstGeom>
          <a:noFill/>
          <a:ln/>
        </p:spPr>
        <p:txBody>
          <a:bodyPr wrap="square" lIns="0" tIns="0" rIns="0" bIns="0" rtlCol="0" anchor="ctr"/>
          <a:lstStyle/>
          <a:p>
            <a:pPr algn="r" indent="0" marL="0">
              <a:buNone/>
            </a:pPr>
            <a:r>
              <a:rPr lang="en-US" sz="1150" dirty="0">
                <a:solidFill>
                  <a:srgbClr val="E9A56B"/>
                </a:solidFill>
                <a:latin typeface="Sarabun" pitchFamily="34" charset="0"/>
                <a:ea typeface="Sarabun" pitchFamily="34" charset="-122"/>
                <a:cs typeface="Sarabun" pitchFamily="34" charset="-120"/>
              </a:rPr>
              <a:t>most fires, fewest bad days, same year</a:t>
            </a:r>
            <a:endParaRPr lang="en-US" sz="1150" dirty="0"/>
          </a:p>
        </p:txBody>
      </p:sp>
      <p:sp>
        <p:nvSpPr>
          <p:cNvPr id="11" name="Text 9"/>
          <p:cNvSpPr txBox="1"/>
          <p:nvPr/>
        </p:nvSpPr>
        <p:spPr>
          <a:xfrm>
            <a:off x="502920" y="4343400"/>
            <a:ext cx="8138160" cy="320040"/>
          </a:xfrm>
          <a:prstGeom prst="rect">
            <a:avLst/>
          </a:prstGeom>
          <a:noFill/>
          <a:ln/>
        </p:spPr>
        <p:txBody>
          <a:bodyPr wrap="square" lIns="0" tIns="0" rIns="0" bIns="0" rtlCol="0" anchor="ctr"/>
          <a:lstStyle/>
          <a:p>
            <a:pPr indent="0" marL="0">
              <a:buNone/>
            </a:pPr>
            <a:r>
              <a:rPr lang="en-US" sz="1250" dirty="0">
                <a:solidFill>
                  <a:srgbClr val="F0E5D6"/>
                </a:solidFill>
                <a:latin typeface="Sarabun" pitchFamily="34" charset="0"/>
                <a:ea typeface="Sarabun" pitchFamily="34" charset="-122"/>
                <a:cs typeface="Sarabun" pitchFamily="34" charset="-120"/>
              </a:rPr>
              <a:t>Thank you.   Repository:  github.com/torthanantaseth/dsc-cmu-pm2.5-assignment</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PM2.5 in Northern Thailand</dc:title>
  <dc:subject>PptxGenJS Presentation</dc:subject>
  <dc:creator>DS-270702 Homework 4</dc:creator>
  <cp:lastModifiedBy>DS-270702 Homework 4</cp:lastModifiedBy>
  <cp:revision>1</cp:revision>
  <dcterms:created xsi:type="dcterms:W3CDTF">2026-09-05T10:19:15Z</dcterms:created>
  <dcterms:modified xsi:type="dcterms:W3CDTF">2026-09-05T10:19:15Z</dcterms:modified>
</cp:coreProperties>
</file>